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BFB"/>
        </a:solidFill>
        <a:effectLst/>
      </p:bgPr>
    </p:bg>
    <p:spTree>
      <p:nvGrpSpPr>
        <p:cNvPr id="1" name=""/>
        <p:cNvGrpSpPr/>
        <p:nvPr/>
      </p:nvGrpSpPr>
      <p:grpSpPr/>
      <p:sp>
        <p:nvSpPr>
          <p:cNvPr id="2" name="Rectangle 1"/>
          <p:cNvSpPr/>
          <p:nvPr/>
        </p:nvSpPr>
        <p:spPr>
          <a:xfrm>
            <a:off x="256032" y="137160"/>
            <a:ext cx="68580" cy="68580"/>
          </a:xfrm>
          <a:prstGeom prst="rect">
            <a:avLst/>
          </a:prstGeom>
          <a:solidFill>
            <a:srgbClr val="00B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2286000" cy="256032"/>
          </a:xfrm>
          <a:prstGeom prst="rect">
            <a:avLst/>
          </a:prstGeom>
          <a:noFill/>
        </p:spPr>
        <p:txBody>
          <a:bodyPr wrap="square">
            <a:spAutoFit/>
          </a:bodyPr>
          <a:lstStyle/>
          <a:p>
            <a:pPr algn="l"/>
            <a:r>
              <a:rPr sz="750" b="1" i="0">
                <a:solidFill>
                  <a:srgbClr val="5E6A66"/>
                </a:solidFill>
                <a:latin typeface="Calibri"/>
              </a:rPr>
              <a:t>Cashfree · Relay</a:t>
            </a:r>
          </a:p>
        </p:txBody>
      </p:sp>
      <p:sp>
        <p:nvSpPr>
          <p:cNvPr id="4" name="TextBox 3"/>
          <p:cNvSpPr txBox="1"/>
          <p:nvPr/>
        </p:nvSpPr>
        <p:spPr>
          <a:xfrm>
            <a:off x="8686800" y="4850892"/>
            <a:ext cx="457200" cy="228600"/>
          </a:xfrm>
          <a:prstGeom prst="rect">
            <a:avLst/>
          </a:prstGeom>
          <a:noFill/>
        </p:spPr>
        <p:txBody>
          <a:bodyPr wrap="square">
            <a:spAutoFit/>
          </a:bodyPr>
          <a:lstStyle/>
          <a:p>
            <a:pPr algn="r"/>
            <a:r>
              <a:rPr sz="800" b="1" i="0">
                <a:solidFill>
                  <a:srgbClr val="0F1F1B"/>
                </a:solidFill>
                <a:latin typeface="Calibri"/>
              </a:rPr>
              <a:t>00</a:t>
            </a:r>
          </a:p>
        </p:txBody>
      </p:sp>
      <p:sp>
        <p:nvSpPr>
          <p:cNvPr id="5" name="Rectangle 4"/>
          <p:cNvSpPr/>
          <p:nvPr/>
        </p:nvSpPr>
        <p:spPr>
          <a:xfrm>
            <a:off x="256032" y="329184"/>
            <a:ext cx="8631936" cy="6350"/>
          </a:xfrm>
          <a:prstGeom prst="rect">
            <a:avLst/>
          </a:prstGeom>
          <a:solidFill>
            <a:srgbClr val="D6DD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0" y="0"/>
            <a:ext cx="3474720" cy="5143500"/>
          </a:xfrm>
          <a:prstGeom prst="rect">
            <a:avLst/>
          </a:prstGeom>
          <a:solidFill>
            <a:srgbClr val="F5F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0"/>
            <a:ext cx="9525" cy="5143500"/>
          </a:xfrm>
          <a:prstGeom prst="rect">
            <a:avLst/>
          </a:prstGeom>
          <a:solidFill>
            <a:srgbClr val="D0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280160"/>
            <a:ext cx="5669280" cy="2011680"/>
          </a:xfrm>
          <a:prstGeom prst="rect">
            <a:avLst/>
          </a:prstGeom>
          <a:noFill/>
        </p:spPr>
        <p:txBody>
          <a:bodyPr wrap="square">
            <a:spAutoFit/>
          </a:bodyPr>
          <a:lstStyle/>
          <a:p>
            <a:r>
              <a:rPr sz="3800" b="0">
                <a:solidFill>
                  <a:srgbClr val="0F1F1B"/>
                </a:solidFill>
                <a:latin typeface="Calibri"/>
              </a:rPr>
              <a:t>For years, software helped you </a:t>
            </a:r>
          </a:p>
          <a:p>
            <a:r>
              <a:rPr sz="3800" i="1">
                <a:solidFill>
                  <a:srgbClr val="00B488"/>
                </a:solidFill>
                <a:latin typeface="Calibri"/>
              </a:rPr>
              <a:t>see the problem.</a:t>
            </a:r>
          </a:p>
        </p:txBody>
      </p:sp>
      <p:sp>
        <p:nvSpPr>
          <p:cNvPr id="9" name="TextBox 8"/>
          <p:cNvSpPr txBox="1"/>
          <p:nvPr/>
        </p:nvSpPr>
        <p:spPr>
          <a:xfrm>
            <a:off x="502920" y="3520440"/>
            <a:ext cx="5303520" cy="822960"/>
          </a:xfrm>
          <a:prstGeom prst="rect">
            <a:avLst/>
          </a:prstGeom>
          <a:noFill/>
        </p:spPr>
        <p:txBody>
          <a:bodyPr wrap="square">
            <a:spAutoFit/>
          </a:bodyPr>
          <a:lstStyle/>
          <a:p>
            <a:pPr algn="l"/>
            <a:r>
              <a:rPr sz="1300" b="0" i="1">
                <a:solidFill>
                  <a:srgbClr val="44524C"/>
                </a:solidFill>
                <a:latin typeface="Calibri"/>
              </a:rPr>
              <a:t>This is software that fixes it. Cashfree Relay puts specialized AI agents on your payment events. Automatically. Without you.</a:t>
            </a:r>
          </a:p>
        </p:txBody>
      </p:sp>
      <p:sp>
        <p:nvSpPr>
          <p:cNvPr id="10" name="TextBox 9"/>
          <p:cNvSpPr txBox="1"/>
          <p:nvPr/>
        </p:nvSpPr>
        <p:spPr>
          <a:xfrm>
            <a:off x="502920" y="4434840"/>
            <a:ext cx="4572000" cy="274320"/>
          </a:xfrm>
          <a:prstGeom prst="rect">
            <a:avLst/>
          </a:prstGeom>
          <a:noFill/>
        </p:spPr>
        <p:txBody>
          <a:bodyPr wrap="square">
            <a:spAutoFit/>
          </a:bodyPr>
          <a:lstStyle/>
          <a:p>
            <a:pPr algn="l"/>
            <a:r>
              <a:rPr sz="850" b="1" i="0">
                <a:solidFill>
                  <a:srgbClr val="5E6A66"/>
                </a:solidFill>
                <a:latin typeface="Calibri"/>
              </a:rPr>
              <a:t>Cashfree Payments  ·  Early Beta  ·  Free to activate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F1B"/>
        </a:solidFill>
        <a:effectLst/>
      </p:bgPr>
    </p:bg>
    <p:spTree>
      <p:nvGrpSpPr>
        <p:cNvPr id="1" name=""/>
        <p:cNvGrpSpPr/>
        <p:nvPr/>
      </p:nvGrpSpPr>
      <p:grpSpPr/>
      <p:sp>
        <p:nvSpPr>
          <p:cNvPr id="2" name="Rectangle 1"/>
          <p:cNvSpPr/>
          <p:nvPr/>
        </p:nvSpPr>
        <p:spPr>
          <a:xfrm>
            <a:off x="256032" y="137160"/>
            <a:ext cx="68580" cy="68580"/>
          </a:xfrm>
          <a:prstGeom prst="rect">
            <a:avLst/>
          </a:prstGeom>
          <a:solidFill>
            <a:srgbClr val="2DC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2286000" cy="256032"/>
          </a:xfrm>
          <a:prstGeom prst="rect">
            <a:avLst/>
          </a:prstGeom>
          <a:noFill/>
        </p:spPr>
        <p:txBody>
          <a:bodyPr wrap="square">
            <a:spAutoFit/>
          </a:bodyPr>
          <a:lstStyle/>
          <a:p>
            <a:pPr algn="l"/>
            <a:r>
              <a:rPr sz="750" b="1" i="0">
                <a:solidFill>
                  <a:srgbClr val="F4F1EA"/>
                </a:solidFill>
                <a:latin typeface="Calibri"/>
              </a:rPr>
              <a:t>Cashfree · Relay</a:t>
            </a:r>
          </a:p>
        </p:txBody>
      </p:sp>
      <p:sp>
        <p:nvSpPr>
          <p:cNvPr id="4" name="TextBox 3"/>
          <p:cNvSpPr txBox="1"/>
          <p:nvPr/>
        </p:nvSpPr>
        <p:spPr>
          <a:xfrm>
            <a:off x="8686800" y="4850892"/>
            <a:ext cx="457200" cy="228600"/>
          </a:xfrm>
          <a:prstGeom prst="rect">
            <a:avLst/>
          </a:prstGeom>
          <a:noFill/>
        </p:spPr>
        <p:txBody>
          <a:bodyPr wrap="square">
            <a:spAutoFit/>
          </a:bodyPr>
          <a:lstStyle/>
          <a:p>
            <a:pPr algn="r"/>
            <a:r>
              <a:rPr sz="800" b="1" i="0">
                <a:solidFill>
                  <a:srgbClr val="F4F1EA"/>
                </a:solidFill>
                <a:latin typeface="Calibri"/>
              </a:rPr>
              <a:t>01 / 10</a:t>
            </a:r>
          </a:p>
        </p:txBody>
      </p:sp>
      <p:sp>
        <p:nvSpPr>
          <p:cNvPr id="5" name="Rectangle 4"/>
          <p:cNvSpPr/>
          <p:nvPr/>
        </p:nvSpPr>
        <p:spPr>
          <a:xfrm>
            <a:off x="256032" y="329184"/>
            <a:ext cx="8631936" cy="6350"/>
          </a:xfrm>
          <a:prstGeom prst="rect">
            <a:avLst/>
          </a:prstGeom>
          <a:solidFill>
            <a:srgbClr val="2DC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435100"/>
            <a:ext cx="182880" cy="9525"/>
          </a:xfrm>
          <a:prstGeom prst="rect">
            <a:avLst/>
          </a:prstGeom>
          <a:solidFill>
            <a:srgbClr val="00B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1371600"/>
            <a:ext cx="5486400" cy="201168"/>
          </a:xfrm>
          <a:prstGeom prst="rect">
            <a:avLst/>
          </a:prstGeom>
          <a:noFill/>
        </p:spPr>
        <p:txBody>
          <a:bodyPr wrap="square">
            <a:spAutoFit/>
          </a:bodyPr>
          <a:lstStyle/>
          <a:p>
            <a:pPr algn="l"/>
            <a:r>
              <a:rPr sz="750" b="1" i="0">
                <a:solidFill>
                  <a:srgbClr val="889E98"/>
                </a:solidFill>
                <a:latin typeface="Calibri"/>
              </a:rPr>
              <a:t>BEFORE WE TALK ABOUT THE PRODUCT</a:t>
            </a:r>
          </a:p>
        </p:txBody>
      </p:sp>
      <p:sp>
        <p:nvSpPr>
          <p:cNvPr id="8" name="TextBox 7"/>
          <p:cNvSpPr txBox="1"/>
          <p:nvPr/>
        </p:nvSpPr>
        <p:spPr>
          <a:xfrm>
            <a:off x="502920" y="1737360"/>
            <a:ext cx="8229600" cy="2286000"/>
          </a:xfrm>
          <a:prstGeom prst="rect">
            <a:avLst/>
          </a:prstGeom>
          <a:noFill/>
        </p:spPr>
        <p:txBody>
          <a:bodyPr wrap="square">
            <a:spAutoFit/>
          </a:bodyPr>
          <a:lstStyle/>
          <a:p>
            <a:r>
              <a:rPr sz="5200">
                <a:solidFill>
                  <a:srgbClr val="F4F1EA"/>
                </a:solidFill>
                <a:latin typeface="Calibri"/>
              </a:rPr>
              <a:t>Walk us through </a:t>
            </a:r>
          </a:p>
          <a:p>
            <a:r>
              <a:rPr sz="5200" i="1">
                <a:solidFill>
                  <a:srgbClr val="2DCCA0"/>
                </a:solidFill>
                <a:latin typeface="Calibri"/>
              </a:rPr>
              <a:t>your Monday morning.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BFB"/>
        </a:solidFill>
        <a:effectLst/>
      </p:bgPr>
    </p:bg>
    <p:spTree>
      <p:nvGrpSpPr>
        <p:cNvPr id="1" name=""/>
        <p:cNvGrpSpPr/>
        <p:nvPr/>
      </p:nvGrpSpPr>
      <p:grpSpPr/>
      <p:sp>
        <p:nvSpPr>
          <p:cNvPr id="2" name="Rectangle 1"/>
          <p:cNvSpPr/>
          <p:nvPr/>
        </p:nvSpPr>
        <p:spPr>
          <a:xfrm>
            <a:off x="256032" y="137160"/>
            <a:ext cx="68580" cy="68580"/>
          </a:xfrm>
          <a:prstGeom prst="rect">
            <a:avLst/>
          </a:prstGeom>
          <a:solidFill>
            <a:srgbClr val="00B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2286000" cy="256032"/>
          </a:xfrm>
          <a:prstGeom prst="rect">
            <a:avLst/>
          </a:prstGeom>
          <a:noFill/>
        </p:spPr>
        <p:txBody>
          <a:bodyPr wrap="square">
            <a:spAutoFit/>
          </a:bodyPr>
          <a:lstStyle/>
          <a:p>
            <a:pPr algn="l"/>
            <a:r>
              <a:rPr sz="750" b="1" i="0">
                <a:solidFill>
                  <a:srgbClr val="5E6A66"/>
                </a:solidFill>
                <a:latin typeface="Calibri"/>
              </a:rPr>
              <a:t>Cashfree · Relay</a:t>
            </a:r>
          </a:p>
        </p:txBody>
      </p:sp>
      <p:sp>
        <p:nvSpPr>
          <p:cNvPr id="4" name="TextBox 3"/>
          <p:cNvSpPr txBox="1"/>
          <p:nvPr/>
        </p:nvSpPr>
        <p:spPr>
          <a:xfrm>
            <a:off x="8686800" y="4850892"/>
            <a:ext cx="457200" cy="228600"/>
          </a:xfrm>
          <a:prstGeom prst="rect">
            <a:avLst/>
          </a:prstGeom>
          <a:noFill/>
        </p:spPr>
        <p:txBody>
          <a:bodyPr wrap="square">
            <a:spAutoFit/>
          </a:bodyPr>
          <a:lstStyle/>
          <a:p>
            <a:pPr algn="r"/>
            <a:r>
              <a:rPr sz="800" b="1" i="0">
                <a:solidFill>
                  <a:srgbClr val="0F1F1B"/>
                </a:solidFill>
                <a:latin typeface="Calibri"/>
              </a:rPr>
              <a:t>02 / 10</a:t>
            </a:r>
          </a:p>
        </p:txBody>
      </p:sp>
      <p:sp>
        <p:nvSpPr>
          <p:cNvPr id="5" name="Rectangle 4"/>
          <p:cNvSpPr/>
          <p:nvPr/>
        </p:nvSpPr>
        <p:spPr>
          <a:xfrm>
            <a:off x="256032" y="329184"/>
            <a:ext cx="8631936" cy="6350"/>
          </a:xfrm>
          <a:prstGeom prst="rect">
            <a:avLst/>
          </a:prstGeom>
          <a:solidFill>
            <a:srgbClr val="D6DD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520700"/>
            <a:ext cx="182880" cy="9525"/>
          </a:xfrm>
          <a:prstGeom prst="rect">
            <a:avLst/>
          </a:prstGeom>
          <a:solidFill>
            <a:srgbClr val="00B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457200"/>
            <a:ext cx="6400800" cy="201168"/>
          </a:xfrm>
          <a:prstGeom prst="rect">
            <a:avLst/>
          </a:prstGeom>
          <a:noFill/>
        </p:spPr>
        <p:txBody>
          <a:bodyPr wrap="square">
            <a:spAutoFit/>
          </a:bodyPr>
          <a:lstStyle/>
          <a:p>
            <a:pPr algn="l"/>
            <a:r>
              <a:rPr sz="750" b="1" i="0">
                <a:solidFill>
                  <a:srgbClr val="5E6A66"/>
                </a:solidFill>
                <a:latin typeface="Calibri"/>
              </a:rPr>
              <a:t>D2C FOUNDER · ₹30L–5CR MONTHLY GMV · 40%+ COD</a:t>
            </a:r>
          </a:p>
        </p:txBody>
      </p:sp>
      <p:sp>
        <p:nvSpPr>
          <p:cNvPr id="8" name="TextBox 7"/>
          <p:cNvSpPr txBox="1"/>
          <p:nvPr/>
        </p:nvSpPr>
        <p:spPr>
          <a:xfrm>
            <a:off x="502920" y="731520"/>
            <a:ext cx="8229600" cy="594360"/>
          </a:xfrm>
          <a:prstGeom prst="rect">
            <a:avLst/>
          </a:prstGeom>
          <a:noFill/>
        </p:spPr>
        <p:txBody>
          <a:bodyPr wrap="square">
            <a:spAutoFit/>
          </a:bodyPr>
          <a:lstStyle/>
          <a:p>
            <a:r>
              <a:rPr sz="2000">
                <a:solidFill>
                  <a:srgbClr val="0F1F1B"/>
                </a:solidFill>
                <a:latin typeface="Calibri"/>
              </a:rPr>
              <a:t>You open your phone at 8am. </a:t>
            </a:r>
            <a:r>
              <a:rPr sz="2000" i="1">
                <a:solidFill>
                  <a:srgbClr val="0F1F1B"/>
                </a:solidFill>
                <a:latin typeface="Calibri"/>
              </a:rPr>
              <a:t>The ops work is already waiting.</a:t>
            </a:r>
          </a:p>
        </p:txBody>
      </p:sp>
      <p:sp>
        <p:nvSpPr>
          <p:cNvPr id="9" name="Rectangle 8"/>
          <p:cNvSpPr/>
          <p:nvPr/>
        </p:nvSpPr>
        <p:spPr>
          <a:xfrm>
            <a:off x="411480" y="1463040"/>
            <a:ext cx="12700" cy="9601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4180" y="1463040"/>
            <a:ext cx="4010660" cy="960120"/>
          </a:xfrm>
          <a:prstGeom prst="rect">
            <a:avLst/>
          </a:prstGeom>
          <a:solidFill>
            <a:srgbClr val="F5EC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6072" y="1513840"/>
            <a:ext cx="3840480" cy="182880"/>
          </a:xfrm>
          <a:prstGeom prst="rect">
            <a:avLst/>
          </a:prstGeom>
          <a:noFill/>
        </p:spPr>
        <p:txBody>
          <a:bodyPr wrap="square">
            <a:spAutoFit/>
          </a:bodyPr>
          <a:lstStyle/>
          <a:p>
            <a:pPr algn="l"/>
            <a:r>
              <a:rPr sz="700" b="1" i="0">
                <a:solidFill>
                  <a:srgbClr val="C0392B"/>
                </a:solidFill>
                <a:latin typeface="Calibri"/>
              </a:rPr>
              <a:t>8:05AM · COD CONFIRMATIONS</a:t>
            </a:r>
          </a:p>
        </p:txBody>
      </p:sp>
      <p:sp>
        <p:nvSpPr>
          <p:cNvPr id="12" name="TextBox 11"/>
          <p:cNvSpPr txBox="1"/>
          <p:nvPr/>
        </p:nvSpPr>
        <p:spPr>
          <a:xfrm>
            <a:off x="576072" y="1691640"/>
            <a:ext cx="3794760" cy="685800"/>
          </a:xfrm>
          <a:prstGeom prst="rect">
            <a:avLst/>
          </a:prstGeom>
          <a:noFill/>
        </p:spPr>
        <p:txBody>
          <a:bodyPr wrap="square">
            <a:spAutoFit/>
          </a:bodyPr>
          <a:lstStyle/>
          <a:p>
            <a:pPr algn="l"/>
            <a:r>
              <a:rPr sz="900" b="0" i="0">
                <a:solidFill>
                  <a:srgbClr val="44524C"/>
                </a:solidFill>
                <a:latin typeface="Calibri"/>
              </a:rPr>
              <a:t>47 COD orders came in overnight. You open WhatsApp and start sending confirmation messages one by one. This takes until 9:30am. Three people didn't pick up.</a:t>
            </a:r>
          </a:p>
        </p:txBody>
      </p:sp>
      <p:sp>
        <p:nvSpPr>
          <p:cNvPr id="13" name="Rectangle 12"/>
          <p:cNvSpPr/>
          <p:nvPr/>
        </p:nvSpPr>
        <p:spPr>
          <a:xfrm>
            <a:off x="411480" y="2487168"/>
            <a:ext cx="12700" cy="9601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4180" y="2487168"/>
            <a:ext cx="4010660" cy="960120"/>
          </a:xfrm>
          <a:prstGeom prst="rect">
            <a:avLst/>
          </a:prstGeom>
          <a:solidFill>
            <a:srgbClr val="F5EC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6072" y="2537968"/>
            <a:ext cx="3840480" cy="182880"/>
          </a:xfrm>
          <a:prstGeom prst="rect">
            <a:avLst/>
          </a:prstGeom>
          <a:noFill/>
        </p:spPr>
        <p:txBody>
          <a:bodyPr wrap="square">
            <a:spAutoFit/>
          </a:bodyPr>
          <a:lstStyle/>
          <a:p>
            <a:pPr algn="l"/>
            <a:r>
              <a:rPr sz="700" b="1" i="0">
                <a:solidFill>
                  <a:srgbClr val="C0392B"/>
                </a:solidFill>
                <a:latin typeface="Calibri"/>
              </a:rPr>
              <a:t>9:45AM · FAILED PAYMENTS</a:t>
            </a:r>
          </a:p>
        </p:txBody>
      </p:sp>
      <p:sp>
        <p:nvSpPr>
          <p:cNvPr id="16" name="TextBox 15"/>
          <p:cNvSpPr txBox="1"/>
          <p:nvPr/>
        </p:nvSpPr>
        <p:spPr>
          <a:xfrm>
            <a:off x="576072" y="2715768"/>
            <a:ext cx="3794760" cy="685800"/>
          </a:xfrm>
          <a:prstGeom prst="rect">
            <a:avLst/>
          </a:prstGeom>
          <a:noFill/>
        </p:spPr>
        <p:txBody>
          <a:bodyPr wrap="square">
            <a:spAutoFit/>
          </a:bodyPr>
          <a:lstStyle/>
          <a:p>
            <a:pPr algn="l"/>
            <a:r>
              <a:rPr sz="900" b="0" i="0">
                <a:solidFill>
                  <a:srgbClr val="44524C"/>
                </a:solidFill>
                <a:latin typeface="Calibri"/>
              </a:rPr>
              <a:t>14 payments failed yesterday. You export the list, open a spreadsheet, start writing recovery messages. You've sent 6 when a supplier calls. You'll finish the rest after lunch. You probably won't.</a:t>
            </a:r>
          </a:p>
        </p:txBody>
      </p:sp>
      <p:sp>
        <p:nvSpPr>
          <p:cNvPr id="17" name="Rectangle 16"/>
          <p:cNvSpPr/>
          <p:nvPr/>
        </p:nvSpPr>
        <p:spPr>
          <a:xfrm>
            <a:off x="411480" y="3511296"/>
            <a:ext cx="12700" cy="9601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4180" y="3511296"/>
            <a:ext cx="4010660" cy="960120"/>
          </a:xfrm>
          <a:prstGeom prst="rect">
            <a:avLst/>
          </a:prstGeom>
          <a:solidFill>
            <a:srgbClr val="F5EC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6072" y="3562096"/>
            <a:ext cx="3840480" cy="182880"/>
          </a:xfrm>
          <a:prstGeom prst="rect">
            <a:avLst/>
          </a:prstGeom>
          <a:noFill/>
        </p:spPr>
        <p:txBody>
          <a:bodyPr wrap="square">
            <a:spAutoFit/>
          </a:bodyPr>
          <a:lstStyle/>
          <a:p>
            <a:pPr algn="l"/>
            <a:r>
              <a:rPr sz="700" b="1" i="0">
                <a:solidFill>
                  <a:srgbClr val="C0392B"/>
                </a:solidFill>
                <a:latin typeface="Calibri"/>
              </a:rPr>
              <a:t>AFTER LUNCH · SETTLEMENT RECON</a:t>
            </a:r>
          </a:p>
        </p:txBody>
      </p:sp>
      <p:sp>
        <p:nvSpPr>
          <p:cNvPr id="20" name="TextBox 19"/>
          <p:cNvSpPr txBox="1"/>
          <p:nvPr/>
        </p:nvSpPr>
        <p:spPr>
          <a:xfrm>
            <a:off x="576072" y="3739896"/>
            <a:ext cx="3794760" cy="685800"/>
          </a:xfrm>
          <a:prstGeom prst="rect">
            <a:avLst/>
          </a:prstGeom>
          <a:noFill/>
        </p:spPr>
        <p:txBody>
          <a:bodyPr wrap="square">
            <a:spAutoFit/>
          </a:bodyPr>
          <a:lstStyle/>
          <a:p>
            <a:pPr algn="l"/>
            <a:r>
              <a:rPr sz="900" b="0" i="0">
                <a:solidFill>
                  <a:srgbClr val="44524C"/>
                </a:solidFill>
                <a:latin typeface="Calibri"/>
              </a:rPr>
              <a:t>Settlement ran on Friday. Finance is asking if the numbers match. You export the CSV, open Sheets, start matching rows. This takes the rest of the afternoon. You've been doing this every week for 14 months.</a:t>
            </a:r>
          </a:p>
        </p:txBody>
      </p:sp>
      <p:sp>
        <p:nvSpPr>
          <p:cNvPr id="21" name="Rectangle 20"/>
          <p:cNvSpPr/>
          <p:nvPr/>
        </p:nvSpPr>
        <p:spPr>
          <a:xfrm>
            <a:off x="4663440" y="1463040"/>
            <a:ext cx="15875" cy="960120"/>
          </a:xfrm>
          <a:prstGeom prst="rect">
            <a:avLst/>
          </a:prstGeom>
          <a:solidFill>
            <a:srgbClr val="924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679315" y="1463040"/>
            <a:ext cx="4281805" cy="960120"/>
          </a:xfrm>
          <a:prstGeom prst="rect">
            <a:avLst/>
          </a:prstGeom>
          <a:solidFill>
            <a:srgbClr val="F9F4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00600" y="1539240"/>
            <a:ext cx="4114800" cy="640080"/>
          </a:xfrm>
          <a:prstGeom prst="rect">
            <a:avLst/>
          </a:prstGeom>
          <a:noFill/>
        </p:spPr>
        <p:txBody>
          <a:bodyPr wrap="square">
            <a:spAutoFit/>
          </a:bodyPr>
          <a:lstStyle/>
          <a:p>
            <a:r>
              <a:rPr sz="900" i="1">
                <a:solidFill>
                  <a:srgbClr val="44524C"/>
                </a:solidFill>
                <a:latin typeface="Calibri"/>
              </a:rPr>
              <a:t>"Last month alone, 23% of COD orders were fake or undelivered. Average loss per order around ₹350. We've tried OTP verification, restricting postal codes, charging extra for COD. Nothing is really helping."</a:t>
            </a:r>
          </a:p>
        </p:txBody>
      </p:sp>
      <p:sp>
        <p:nvSpPr>
          <p:cNvPr id="24" name="TextBox 23"/>
          <p:cNvSpPr txBox="1"/>
          <p:nvPr/>
        </p:nvSpPr>
        <p:spPr>
          <a:xfrm>
            <a:off x="4800600" y="2221992"/>
            <a:ext cx="4114800" cy="182880"/>
          </a:xfrm>
          <a:prstGeom prst="rect">
            <a:avLst/>
          </a:prstGeom>
          <a:noFill/>
        </p:spPr>
        <p:txBody>
          <a:bodyPr wrap="square">
            <a:spAutoFit/>
          </a:bodyPr>
          <a:lstStyle/>
          <a:p>
            <a:pPr algn="l"/>
            <a:r>
              <a:rPr sz="700" b="1" i="0">
                <a:solidFill>
                  <a:srgbClr val="5E6A66"/>
                </a:solidFill>
                <a:latin typeface="Calibri"/>
              </a:rPr>
              <a:t>R/INDIASTARTUPS · NOV 2025 · 78 UPVOTES</a:t>
            </a:r>
          </a:p>
        </p:txBody>
      </p:sp>
      <p:sp>
        <p:nvSpPr>
          <p:cNvPr id="25" name="Rectangle 24"/>
          <p:cNvSpPr/>
          <p:nvPr/>
        </p:nvSpPr>
        <p:spPr>
          <a:xfrm>
            <a:off x="4663440" y="2496312"/>
            <a:ext cx="15875" cy="749808"/>
          </a:xfrm>
          <a:prstGeom prst="rect">
            <a:avLst/>
          </a:prstGeom>
          <a:solidFill>
            <a:srgbClr val="924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679315" y="2496312"/>
            <a:ext cx="4281805" cy="749808"/>
          </a:xfrm>
          <a:prstGeom prst="rect">
            <a:avLst/>
          </a:prstGeom>
          <a:solidFill>
            <a:srgbClr val="F9F4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00600" y="2572512"/>
            <a:ext cx="4114800" cy="429768"/>
          </a:xfrm>
          <a:prstGeom prst="rect">
            <a:avLst/>
          </a:prstGeom>
          <a:noFill/>
        </p:spPr>
        <p:txBody>
          <a:bodyPr wrap="square">
            <a:spAutoFit/>
          </a:bodyPr>
          <a:lstStyle/>
          <a:p>
            <a:r>
              <a:rPr sz="900" i="1">
                <a:solidFill>
                  <a:srgbClr val="44524C"/>
                </a:solidFill>
                <a:latin typeface="Calibri"/>
              </a:rPr>
              <a:t>"The customer dropped off. I wanted a nudge to go automatically. I was sending it manually."</a:t>
            </a:r>
          </a:p>
        </p:txBody>
      </p:sp>
      <p:sp>
        <p:nvSpPr>
          <p:cNvPr id="28" name="TextBox 27"/>
          <p:cNvSpPr txBox="1"/>
          <p:nvPr/>
        </p:nvSpPr>
        <p:spPr>
          <a:xfrm>
            <a:off x="4800600" y="3044952"/>
            <a:ext cx="4114800" cy="182880"/>
          </a:xfrm>
          <a:prstGeom prst="rect">
            <a:avLst/>
          </a:prstGeom>
          <a:noFill/>
        </p:spPr>
        <p:txBody>
          <a:bodyPr wrap="square">
            <a:spAutoFit/>
          </a:bodyPr>
          <a:lstStyle/>
          <a:p>
            <a:pPr algn="l"/>
            <a:r>
              <a:rPr sz="700" b="1" i="0">
                <a:solidFill>
                  <a:srgbClr val="5E6A66"/>
                </a:solidFill>
                <a:latin typeface="Calibri"/>
              </a:rPr>
              <a:t>MERCHANT FOUNDER · OHSOU · ₹20L GMV/MONTH · CASHFREE DEMO CALL</a:t>
            </a:r>
          </a:p>
        </p:txBody>
      </p:sp>
      <p:sp>
        <p:nvSpPr>
          <p:cNvPr id="29" name="Rectangle 28"/>
          <p:cNvSpPr/>
          <p:nvPr/>
        </p:nvSpPr>
        <p:spPr>
          <a:xfrm>
            <a:off x="4663440" y="3319272"/>
            <a:ext cx="15875" cy="804672"/>
          </a:xfrm>
          <a:prstGeom prst="rect">
            <a:avLst/>
          </a:prstGeom>
          <a:solidFill>
            <a:srgbClr val="924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679315" y="3319272"/>
            <a:ext cx="4281805" cy="804672"/>
          </a:xfrm>
          <a:prstGeom prst="rect">
            <a:avLst/>
          </a:prstGeom>
          <a:solidFill>
            <a:srgbClr val="F9F4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00600" y="3395472"/>
            <a:ext cx="4114800" cy="484632"/>
          </a:xfrm>
          <a:prstGeom prst="rect">
            <a:avLst/>
          </a:prstGeom>
          <a:noFill/>
        </p:spPr>
        <p:txBody>
          <a:bodyPr wrap="square">
            <a:spAutoFit/>
          </a:bodyPr>
          <a:lstStyle/>
          <a:p>
            <a:r>
              <a:rPr sz="900" i="1">
                <a:solidFill>
                  <a:srgbClr val="44524C"/>
                </a:solidFill>
                <a:latin typeface="Calibri"/>
              </a:rPr>
              <a:t>"Version 1 was embarrassing. The final system took 2 months — 44 nodes, 2 AI agents, 8 conversation stages. Just for WhatsApp replies."</a:t>
            </a:r>
          </a:p>
        </p:txBody>
      </p:sp>
      <p:sp>
        <p:nvSpPr>
          <p:cNvPr id="32" name="TextBox 31"/>
          <p:cNvSpPr txBox="1"/>
          <p:nvPr/>
        </p:nvSpPr>
        <p:spPr>
          <a:xfrm>
            <a:off x="4800600" y="3922776"/>
            <a:ext cx="4114800" cy="182880"/>
          </a:xfrm>
          <a:prstGeom prst="rect">
            <a:avLst/>
          </a:prstGeom>
          <a:noFill/>
        </p:spPr>
        <p:txBody>
          <a:bodyPr wrap="square">
            <a:spAutoFit/>
          </a:bodyPr>
          <a:lstStyle/>
          <a:p>
            <a:pPr algn="l"/>
            <a:r>
              <a:rPr sz="700" b="1" i="0">
                <a:solidFill>
                  <a:srgbClr val="5E6A66"/>
                </a:solidFill>
                <a:latin typeface="Calibri"/>
              </a:rPr>
              <a:t>R/N8N · MARCH 2026 · 356 UPVOTES · DEVELOPER, JAIPUR</a:t>
            </a:r>
          </a:p>
        </p:txBody>
      </p:sp>
      <p:sp>
        <p:nvSpPr>
          <p:cNvPr id="33" name="Rectangle 32"/>
          <p:cNvSpPr/>
          <p:nvPr/>
        </p:nvSpPr>
        <p:spPr>
          <a:xfrm>
            <a:off x="4663440" y="4114800"/>
            <a:ext cx="4297680" cy="384048"/>
          </a:xfrm>
          <a:prstGeom prst="rect">
            <a:avLst/>
          </a:prstGeom>
          <a:solidFill>
            <a:srgbClr val="0F1F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54880" y="4160520"/>
            <a:ext cx="1828800" cy="292608"/>
          </a:xfrm>
          <a:prstGeom prst="rect">
            <a:avLst/>
          </a:prstGeom>
          <a:noFill/>
        </p:spPr>
        <p:txBody>
          <a:bodyPr wrap="square">
            <a:spAutoFit/>
          </a:bodyPr>
          <a:lstStyle/>
          <a:p>
            <a:pPr algn="l"/>
            <a:r>
              <a:rPr sz="750" b="1" i="0">
                <a:solidFill>
                  <a:srgbClr val="556A60"/>
                </a:solidFill>
                <a:latin typeface="Calibri"/>
              </a:rPr>
              <a:t>271 posts scraped</a:t>
            </a:r>
          </a:p>
        </p:txBody>
      </p:sp>
      <p:sp>
        <p:nvSpPr>
          <p:cNvPr id="35" name="TextBox 34"/>
          <p:cNvSpPr txBox="1"/>
          <p:nvPr/>
        </p:nvSpPr>
        <p:spPr>
          <a:xfrm>
            <a:off x="6400800" y="4160520"/>
            <a:ext cx="2468880" cy="292608"/>
          </a:xfrm>
          <a:prstGeom prst="rect">
            <a:avLst/>
          </a:prstGeom>
          <a:noFill/>
        </p:spPr>
        <p:txBody>
          <a:bodyPr wrap="square">
            <a:spAutoFit/>
          </a:bodyPr>
          <a:lstStyle/>
          <a:p>
            <a:pPr algn="r"/>
            <a:r>
              <a:rPr sz="950" b="0" i="0">
                <a:solidFill>
                  <a:srgbClr val="2DCCA0"/>
                </a:solidFill>
                <a:latin typeface="Calibri"/>
              </a:rPr>
              <a:t>Zero merchants said "we use X and it works."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BFB"/>
        </a:solidFill>
        <a:effectLst/>
      </p:bgPr>
    </p:bg>
    <p:spTree>
      <p:nvGrpSpPr>
        <p:cNvPr id="1" name=""/>
        <p:cNvGrpSpPr/>
        <p:nvPr/>
      </p:nvGrpSpPr>
      <p:grpSpPr/>
      <p:sp>
        <p:nvSpPr>
          <p:cNvPr id="2" name="Rectangle 1"/>
          <p:cNvSpPr/>
          <p:nvPr/>
        </p:nvSpPr>
        <p:spPr>
          <a:xfrm>
            <a:off x="256032" y="137160"/>
            <a:ext cx="68580" cy="68580"/>
          </a:xfrm>
          <a:prstGeom prst="rect">
            <a:avLst/>
          </a:prstGeom>
          <a:solidFill>
            <a:srgbClr val="00B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2286000" cy="256032"/>
          </a:xfrm>
          <a:prstGeom prst="rect">
            <a:avLst/>
          </a:prstGeom>
          <a:noFill/>
        </p:spPr>
        <p:txBody>
          <a:bodyPr wrap="square">
            <a:spAutoFit/>
          </a:bodyPr>
          <a:lstStyle/>
          <a:p>
            <a:pPr algn="l"/>
            <a:r>
              <a:rPr sz="750" b="1" i="0">
                <a:solidFill>
                  <a:srgbClr val="5E6A66"/>
                </a:solidFill>
                <a:latin typeface="Calibri"/>
              </a:rPr>
              <a:t>Cashfree · Relay</a:t>
            </a:r>
          </a:p>
        </p:txBody>
      </p:sp>
      <p:sp>
        <p:nvSpPr>
          <p:cNvPr id="4" name="TextBox 3"/>
          <p:cNvSpPr txBox="1"/>
          <p:nvPr/>
        </p:nvSpPr>
        <p:spPr>
          <a:xfrm>
            <a:off x="8686800" y="4850892"/>
            <a:ext cx="457200" cy="228600"/>
          </a:xfrm>
          <a:prstGeom prst="rect">
            <a:avLst/>
          </a:prstGeom>
          <a:noFill/>
        </p:spPr>
        <p:txBody>
          <a:bodyPr wrap="square">
            <a:spAutoFit/>
          </a:bodyPr>
          <a:lstStyle/>
          <a:p>
            <a:pPr algn="r"/>
            <a:r>
              <a:rPr sz="800" b="1" i="0">
                <a:solidFill>
                  <a:srgbClr val="0F1F1B"/>
                </a:solidFill>
                <a:latin typeface="Calibri"/>
              </a:rPr>
              <a:t>03 / 10</a:t>
            </a:r>
          </a:p>
        </p:txBody>
      </p:sp>
      <p:sp>
        <p:nvSpPr>
          <p:cNvPr id="5" name="Rectangle 4"/>
          <p:cNvSpPr/>
          <p:nvPr/>
        </p:nvSpPr>
        <p:spPr>
          <a:xfrm>
            <a:off x="256032" y="329184"/>
            <a:ext cx="8631936" cy="6350"/>
          </a:xfrm>
          <a:prstGeom prst="rect">
            <a:avLst/>
          </a:prstGeom>
          <a:solidFill>
            <a:srgbClr val="D6DD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520700"/>
            <a:ext cx="182880" cy="9525"/>
          </a:xfrm>
          <a:prstGeom prst="rect">
            <a:avLst/>
          </a:prstGeom>
          <a:solidFill>
            <a:srgbClr val="00B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457200"/>
            <a:ext cx="5486400" cy="201168"/>
          </a:xfrm>
          <a:prstGeom prst="rect">
            <a:avLst/>
          </a:prstGeom>
          <a:noFill/>
        </p:spPr>
        <p:txBody>
          <a:bodyPr wrap="square">
            <a:spAutoFit/>
          </a:bodyPr>
          <a:lstStyle/>
          <a:p>
            <a:pPr algn="l"/>
            <a:r>
              <a:rPr sz="750" b="1" i="0">
                <a:solidFill>
                  <a:srgbClr val="5E6A66"/>
                </a:solidFill>
                <a:latin typeface="Calibri"/>
              </a:rPr>
              <a:t>YOU'RE ALREADY PAYING FOR THIS PROBLEM</a:t>
            </a:r>
          </a:p>
        </p:txBody>
      </p:sp>
      <p:sp>
        <p:nvSpPr>
          <p:cNvPr id="8" name="TextBox 7"/>
          <p:cNvSpPr txBox="1"/>
          <p:nvPr/>
        </p:nvSpPr>
        <p:spPr>
          <a:xfrm>
            <a:off x="502920" y="731520"/>
            <a:ext cx="8229600" cy="594360"/>
          </a:xfrm>
          <a:prstGeom prst="rect">
            <a:avLst/>
          </a:prstGeom>
          <a:noFill/>
        </p:spPr>
        <p:txBody>
          <a:bodyPr wrap="none">
            <a:spAutoFit/>
          </a:bodyPr>
          <a:lstStyle/>
          <a:p>
            <a:r>
              <a:rPr sz="2200">
                <a:solidFill>
                  <a:srgbClr val="0F1F1B"/>
                </a:solidFill>
                <a:latin typeface="Calibri"/>
              </a:rPr>
              <a:t>₹40,000 to ₹80,000 every month. </a:t>
            </a:r>
            <a:r>
              <a:rPr sz="2200" i="1">
                <a:solidFill>
                  <a:srgbClr val="0F1F1B"/>
                </a:solidFill>
                <a:latin typeface="Calibri"/>
              </a:rPr>
              <a:t>And it still breaks on weekends.</a:t>
            </a:r>
          </a:p>
        </p:txBody>
      </p:sp>
      <p:sp>
        <p:nvSpPr>
          <p:cNvPr id="9" name="Rectangle 8"/>
          <p:cNvSpPr/>
          <p:nvPr/>
        </p:nvSpPr>
        <p:spPr>
          <a:xfrm>
            <a:off x="411480" y="1463040"/>
            <a:ext cx="8321040" cy="292608"/>
          </a:xfrm>
          <a:prstGeom prst="rect">
            <a:avLst/>
          </a:prstGeom>
          <a:solidFill>
            <a:srgbClr val="EDF0EF"/>
          </a:solidFill>
          <a:ln w="9525">
            <a:solidFill>
              <a:srgbClr val="0F1F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513840"/>
            <a:ext cx="6126480" cy="256032"/>
          </a:xfrm>
          <a:prstGeom prst="rect">
            <a:avLst/>
          </a:prstGeom>
          <a:noFill/>
        </p:spPr>
        <p:txBody>
          <a:bodyPr wrap="square">
            <a:spAutoFit/>
          </a:bodyPr>
          <a:lstStyle/>
          <a:p>
            <a:pPr algn="l"/>
            <a:r>
              <a:rPr sz="750" b="1" i="0">
                <a:solidFill>
                  <a:srgbClr val="5E6A66"/>
                </a:solidFill>
                <a:latin typeface="Calibri"/>
              </a:rPr>
              <a:t>WHAT YOU'RE DOING MANUALLY</a:t>
            </a:r>
          </a:p>
        </p:txBody>
      </p:sp>
      <p:sp>
        <p:nvSpPr>
          <p:cNvPr id="11" name="TextBox 10"/>
          <p:cNvSpPr txBox="1"/>
          <p:nvPr/>
        </p:nvSpPr>
        <p:spPr>
          <a:xfrm>
            <a:off x="6720840" y="1513840"/>
            <a:ext cx="2011680" cy="256032"/>
          </a:xfrm>
          <a:prstGeom prst="rect">
            <a:avLst/>
          </a:prstGeom>
          <a:noFill/>
        </p:spPr>
        <p:txBody>
          <a:bodyPr wrap="square">
            <a:spAutoFit/>
          </a:bodyPr>
          <a:lstStyle/>
          <a:p>
            <a:pPr algn="l"/>
            <a:r>
              <a:rPr sz="750" b="1" i="0">
                <a:solidFill>
                  <a:srgbClr val="5E6A66"/>
                </a:solidFill>
                <a:latin typeface="Calibri"/>
              </a:rPr>
              <a:t>WHAT IT COSTS</a:t>
            </a:r>
          </a:p>
        </p:txBody>
      </p:sp>
      <p:sp>
        <p:nvSpPr>
          <p:cNvPr id="12" name="Rectangle 11"/>
          <p:cNvSpPr/>
          <p:nvPr/>
        </p:nvSpPr>
        <p:spPr>
          <a:xfrm>
            <a:off x="411480" y="1755648"/>
            <a:ext cx="6217920" cy="457200"/>
          </a:xfrm>
          <a:prstGeom prst="rect">
            <a:avLst/>
          </a:prstGeom>
          <a:solidFill>
            <a:srgbClr val="FBFBFB"/>
          </a:solidFill>
          <a:ln w="6350">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629400" y="1755648"/>
            <a:ext cx="2103120" cy="457200"/>
          </a:xfrm>
          <a:prstGeom prst="rect">
            <a:avLst/>
          </a:prstGeom>
          <a:solidFill>
            <a:srgbClr val="FBFBFB"/>
          </a:solidFill>
          <a:ln w="6350">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1806448"/>
            <a:ext cx="6035040" cy="355600"/>
          </a:xfrm>
          <a:prstGeom prst="rect">
            <a:avLst/>
          </a:prstGeom>
          <a:noFill/>
        </p:spPr>
        <p:txBody>
          <a:bodyPr wrap="square">
            <a:spAutoFit/>
          </a:bodyPr>
          <a:lstStyle/>
          <a:p>
            <a:pPr algn="l"/>
            <a:r>
              <a:rPr sz="950" b="1" i="0">
                <a:solidFill>
                  <a:srgbClr val="0F1F1B"/>
                </a:solidFill>
                <a:latin typeface="Calibri"/>
              </a:rPr>
              <a:t>WhatsApp COD confirmations. Sent one by one, every morning.</a:t>
            </a:r>
          </a:p>
        </p:txBody>
      </p:sp>
      <p:sp>
        <p:nvSpPr>
          <p:cNvPr id="15" name="TextBox 14"/>
          <p:cNvSpPr txBox="1"/>
          <p:nvPr/>
        </p:nvSpPr>
        <p:spPr>
          <a:xfrm>
            <a:off x="6720840" y="1882648"/>
            <a:ext cx="2011680" cy="355600"/>
          </a:xfrm>
          <a:prstGeom prst="rect">
            <a:avLst/>
          </a:prstGeom>
          <a:noFill/>
        </p:spPr>
        <p:txBody>
          <a:bodyPr wrap="square">
            <a:spAutoFit/>
          </a:bodyPr>
          <a:lstStyle/>
          <a:p>
            <a:pPr algn="l"/>
            <a:r>
              <a:rPr sz="1100" b="1" i="0">
                <a:solidFill>
                  <a:srgbClr val="92400E"/>
                </a:solidFill>
                <a:latin typeface="Calibri"/>
              </a:rPr>
              <a:t>₹8,000 – ₹18,000 / mo</a:t>
            </a:r>
          </a:p>
        </p:txBody>
      </p:sp>
      <p:sp>
        <p:nvSpPr>
          <p:cNvPr id="16" name="Rectangle 15"/>
          <p:cNvSpPr/>
          <p:nvPr/>
        </p:nvSpPr>
        <p:spPr>
          <a:xfrm>
            <a:off x="411480" y="2212848"/>
            <a:ext cx="6217920" cy="457200"/>
          </a:xfrm>
          <a:prstGeom prst="rect">
            <a:avLst/>
          </a:prstGeom>
          <a:solidFill>
            <a:srgbClr val="F5F7F6"/>
          </a:solidFill>
          <a:ln w="6350">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629400" y="2212848"/>
            <a:ext cx="2103120" cy="457200"/>
          </a:xfrm>
          <a:prstGeom prst="rect">
            <a:avLst/>
          </a:prstGeom>
          <a:solidFill>
            <a:srgbClr val="F5F7F6"/>
          </a:solidFill>
          <a:ln w="6350">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2263648"/>
            <a:ext cx="6035040" cy="355600"/>
          </a:xfrm>
          <a:prstGeom prst="rect">
            <a:avLst/>
          </a:prstGeom>
          <a:noFill/>
        </p:spPr>
        <p:txBody>
          <a:bodyPr wrap="square">
            <a:spAutoFit/>
          </a:bodyPr>
          <a:lstStyle/>
          <a:p>
            <a:pPr algn="l"/>
            <a:r>
              <a:rPr sz="950" b="1" i="0">
                <a:solidFill>
                  <a:srgbClr val="0F1F1B"/>
                </a:solidFill>
                <a:latin typeface="Calibri"/>
              </a:rPr>
              <a:t>Connecting Cashfree events to Sheets, CRM, Slack. Done manually.</a:t>
            </a:r>
          </a:p>
        </p:txBody>
      </p:sp>
      <p:sp>
        <p:nvSpPr>
          <p:cNvPr id="19" name="TextBox 18"/>
          <p:cNvSpPr txBox="1"/>
          <p:nvPr/>
        </p:nvSpPr>
        <p:spPr>
          <a:xfrm>
            <a:off x="6720840" y="2339848"/>
            <a:ext cx="2011680" cy="355600"/>
          </a:xfrm>
          <a:prstGeom prst="rect">
            <a:avLst/>
          </a:prstGeom>
          <a:noFill/>
        </p:spPr>
        <p:txBody>
          <a:bodyPr wrap="square">
            <a:spAutoFit/>
          </a:bodyPr>
          <a:lstStyle/>
          <a:p>
            <a:pPr algn="l"/>
            <a:r>
              <a:rPr sz="1100" b="1" i="0">
                <a:solidFill>
                  <a:srgbClr val="92400E"/>
                </a:solidFill>
                <a:latin typeface="Calibri"/>
              </a:rPr>
              <a:t>₹4,000 – ₹12,000 / mo</a:t>
            </a:r>
          </a:p>
        </p:txBody>
      </p:sp>
      <p:sp>
        <p:nvSpPr>
          <p:cNvPr id="20" name="Rectangle 19"/>
          <p:cNvSpPr/>
          <p:nvPr/>
        </p:nvSpPr>
        <p:spPr>
          <a:xfrm>
            <a:off x="411480" y="2670048"/>
            <a:ext cx="6217920" cy="457200"/>
          </a:xfrm>
          <a:prstGeom prst="rect">
            <a:avLst/>
          </a:prstGeom>
          <a:solidFill>
            <a:srgbClr val="FBFBFB"/>
          </a:solidFill>
          <a:ln w="6350">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629400" y="2670048"/>
            <a:ext cx="2103120" cy="457200"/>
          </a:xfrm>
          <a:prstGeom prst="rect">
            <a:avLst/>
          </a:prstGeom>
          <a:solidFill>
            <a:srgbClr val="FBFBFB"/>
          </a:solidFill>
          <a:ln w="6350">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2720848"/>
            <a:ext cx="6035040" cy="355600"/>
          </a:xfrm>
          <a:prstGeom prst="rect">
            <a:avLst/>
          </a:prstGeom>
          <a:noFill/>
        </p:spPr>
        <p:txBody>
          <a:bodyPr wrap="square">
            <a:spAutoFit/>
          </a:bodyPr>
          <a:lstStyle/>
          <a:p>
            <a:pPr algn="l"/>
            <a:r>
              <a:rPr sz="950" b="1" i="0">
                <a:solidFill>
                  <a:srgbClr val="0F1F1B"/>
                </a:solidFill>
                <a:latin typeface="Calibri"/>
              </a:rPr>
              <a:t>COD RTO ops. Calling, flagging, chasing before dispatch.</a:t>
            </a:r>
          </a:p>
        </p:txBody>
      </p:sp>
      <p:sp>
        <p:nvSpPr>
          <p:cNvPr id="23" name="TextBox 22"/>
          <p:cNvSpPr txBox="1"/>
          <p:nvPr/>
        </p:nvSpPr>
        <p:spPr>
          <a:xfrm>
            <a:off x="6720840" y="2797048"/>
            <a:ext cx="2011680" cy="355600"/>
          </a:xfrm>
          <a:prstGeom prst="rect">
            <a:avLst/>
          </a:prstGeom>
          <a:noFill/>
        </p:spPr>
        <p:txBody>
          <a:bodyPr wrap="square">
            <a:spAutoFit/>
          </a:bodyPr>
          <a:lstStyle/>
          <a:p>
            <a:pPr algn="l"/>
            <a:r>
              <a:rPr sz="1100" b="1" i="0">
                <a:solidFill>
                  <a:srgbClr val="92400E"/>
                </a:solidFill>
                <a:latin typeface="Calibri"/>
              </a:rPr>
              <a:t>₹20,000 – ₹35,000 / mo</a:t>
            </a:r>
          </a:p>
        </p:txBody>
      </p:sp>
      <p:sp>
        <p:nvSpPr>
          <p:cNvPr id="24" name="Rectangle 23"/>
          <p:cNvSpPr/>
          <p:nvPr/>
        </p:nvSpPr>
        <p:spPr>
          <a:xfrm>
            <a:off x="411480" y="3127248"/>
            <a:ext cx="6217920" cy="457200"/>
          </a:xfrm>
          <a:prstGeom prst="rect">
            <a:avLst/>
          </a:prstGeom>
          <a:solidFill>
            <a:srgbClr val="F5F7F6"/>
          </a:solidFill>
          <a:ln w="6350">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629400" y="3127248"/>
            <a:ext cx="2103120" cy="457200"/>
          </a:xfrm>
          <a:prstGeom prst="rect">
            <a:avLst/>
          </a:prstGeom>
          <a:solidFill>
            <a:srgbClr val="F5F7F6"/>
          </a:solidFill>
          <a:ln w="6350">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3178048"/>
            <a:ext cx="6035040" cy="355600"/>
          </a:xfrm>
          <a:prstGeom prst="rect">
            <a:avLst/>
          </a:prstGeom>
          <a:noFill/>
        </p:spPr>
        <p:txBody>
          <a:bodyPr wrap="square">
            <a:spAutoFit/>
          </a:bodyPr>
          <a:lstStyle/>
          <a:p>
            <a:pPr algn="l"/>
            <a:r>
              <a:rPr sz="950" b="1" i="0">
                <a:solidFill>
                  <a:srgbClr val="0F1F1B"/>
                </a:solidFill>
                <a:latin typeface="Calibri"/>
              </a:rPr>
              <a:t>Failed payment follow-ups. Export, message, track manually.</a:t>
            </a:r>
          </a:p>
        </p:txBody>
      </p:sp>
      <p:sp>
        <p:nvSpPr>
          <p:cNvPr id="27" name="TextBox 26"/>
          <p:cNvSpPr txBox="1"/>
          <p:nvPr/>
        </p:nvSpPr>
        <p:spPr>
          <a:xfrm>
            <a:off x="6720840" y="3254248"/>
            <a:ext cx="2011680" cy="355600"/>
          </a:xfrm>
          <a:prstGeom prst="rect">
            <a:avLst/>
          </a:prstGeom>
          <a:noFill/>
        </p:spPr>
        <p:txBody>
          <a:bodyPr wrap="square">
            <a:spAutoFit/>
          </a:bodyPr>
          <a:lstStyle/>
          <a:p>
            <a:pPr algn="l"/>
            <a:r>
              <a:rPr sz="1100" b="1" i="0">
                <a:solidFill>
                  <a:srgbClr val="92400E"/>
                </a:solidFill>
                <a:latin typeface="Calibri"/>
              </a:rPr>
              <a:t>2 hrs every day</a:t>
            </a:r>
          </a:p>
        </p:txBody>
      </p:sp>
      <p:sp>
        <p:nvSpPr>
          <p:cNvPr id="28" name="Rectangle 27"/>
          <p:cNvSpPr/>
          <p:nvPr/>
        </p:nvSpPr>
        <p:spPr>
          <a:xfrm>
            <a:off x="411480" y="3584448"/>
            <a:ext cx="6217920" cy="457200"/>
          </a:xfrm>
          <a:prstGeom prst="rect">
            <a:avLst/>
          </a:prstGeom>
          <a:solidFill>
            <a:srgbClr val="FBFBFB"/>
          </a:solidFill>
          <a:ln w="6350">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629400" y="3584448"/>
            <a:ext cx="2103120" cy="457200"/>
          </a:xfrm>
          <a:prstGeom prst="rect">
            <a:avLst/>
          </a:prstGeom>
          <a:solidFill>
            <a:srgbClr val="FBFBFB"/>
          </a:solidFill>
          <a:ln w="6350">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2920" y="3635248"/>
            <a:ext cx="6035040" cy="355600"/>
          </a:xfrm>
          <a:prstGeom prst="rect">
            <a:avLst/>
          </a:prstGeom>
          <a:noFill/>
        </p:spPr>
        <p:txBody>
          <a:bodyPr wrap="square">
            <a:spAutoFit/>
          </a:bodyPr>
          <a:lstStyle/>
          <a:p>
            <a:pPr algn="l"/>
            <a:r>
              <a:rPr sz="950" b="1" i="0">
                <a:solidFill>
                  <a:srgbClr val="0F1F1B"/>
                </a:solidFill>
                <a:latin typeface="Calibri"/>
              </a:rPr>
              <a:t>Settlement reconciliation. CSV export, Sheets matching, finance review.</a:t>
            </a:r>
          </a:p>
        </p:txBody>
      </p:sp>
      <p:sp>
        <p:nvSpPr>
          <p:cNvPr id="31" name="TextBox 30"/>
          <p:cNvSpPr txBox="1"/>
          <p:nvPr/>
        </p:nvSpPr>
        <p:spPr>
          <a:xfrm>
            <a:off x="6720840" y="3711448"/>
            <a:ext cx="2011680" cy="355600"/>
          </a:xfrm>
          <a:prstGeom prst="rect">
            <a:avLst/>
          </a:prstGeom>
          <a:noFill/>
        </p:spPr>
        <p:txBody>
          <a:bodyPr wrap="square">
            <a:spAutoFit/>
          </a:bodyPr>
          <a:lstStyle/>
          <a:p>
            <a:pPr algn="l"/>
            <a:r>
              <a:rPr sz="1100" b="1" i="0">
                <a:solidFill>
                  <a:srgbClr val="92400E"/>
                </a:solidFill>
                <a:latin typeface="Calibri"/>
              </a:rPr>
              <a:t>40 – 160 hrs / month</a:t>
            </a:r>
          </a:p>
        </p:txBody>
      </p:sp>
      <p:sp>
        <p:nvSpPr>
          <p:cNvPr id="32" name="Rectangle 31"/>
          <p:cNvSpPr/>
          <p:nvPr/>
        </p:nvSpPr>
        <p:spPr>
          <a:xfrm>
            <a:off x="411480" y="4133088"/>
            <a:ext cx="15875" cy="457200"/>
          </a:xfrm>
          <a:prstGeom prst="rect">
            <a:avLst/>
          </a:prstGeom>
          <a:solidFill>
            <a:srgbClr val="924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27355" y="4133088"/>
            <a:ext cx="4007485" cy="457200"/>
          </a:xfrm>
          <a:prstGeom prst="rect">
            <a:avLst/>
          </a:prstGeom>
          <a:solidFill>
            <a:srgbClr val="F9F4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4209288"/>
            <a:ext cx="3840480" cy="137160"/>
          </a:xfrm>
          <a:prstGeom prst="rect">
            <a:avLst/>
          </a:prstGeom>
          <a:noFill/>
        </p:spPr>
        <p:txBody>
          <a:bodyPr wrap="square">
            <a:spAutoFit/>
          </a:bodyPr>
          <a:lstStyle/>
          <a:p>
            <a:r>
              <a:rPr sz="900" i="1">
                <a:solidFill>
                  <a:srgbClr val="44524C"/>
                </a:solidFill>
                <a:latin typeface="Calibri"/>
              </a:rPr>
              <a:t>"I was paying ₹6,000/month for automation tools and a freelance developer to maintain three workflows. Still had to check everything myself."</a:t>
            </a:r>
          </a:p>
        </p:txBody>
      </p:sp>
      <p:sp>
        <p:nvSpPr>
          <p:cNvPr id="35" name="TextBox 34"/>
          <p:cNvSpPr txBox="1"/>
          <p:nvPr/>
        </p:nvSpPr>
        <p:spPr>
          <a:xfrm>
            <a:off x="548640" y="4389120"/>
            <a:ext cx="3840480" cy="182880"/>
          </a:xfrm>
          <a:prstGeom prst="rect">
            <a:avLst/>
          </a:prstGeom>
          <a:noFill/>
        </p:spPr>
        <p:txBody>
          <a:bodyPr wrap="square">
            <a:spAutoFit/>
          </a:bodyPr>
          <a:lstStyle/>
          <a:p>
            <a:pPr algn="l"/>
            <a:r>
              <a:rPr sz="700" b="1" i="0">
                <a:solidFill>
                  <a:srgbClr val="5E6A66"/>
                </a:solidFill>
                <a:latin typeface="Calibri"/>
              </a:rPr>
              <a:t>EARLY BETA MERCHANT · D2C APPAREL BRAND</a:t>
            </a:r>
          </a:p>
        </p:txBody>
      </p:sp>
      <p:sp>
        <p:nvSpPr>
          <p:cNvPr id="36" name="Rectangle 35"/>
          <p:cNvSpPr/>
          <p:nvPr/>
        </p:nvSpPr>
        <p:spPr>
          <a:xfrm>
            <a:off x="4617720" y="4133088"/>
            <a:ext cx="4114800" cy="457200"/>
          </a:xfrm>
          <a:prstGeom prst="rect">
            <a:avLst/>
          </a:prstGeom>
          <a:solidFill>
            <a:srgbClr val="0F1F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709160" y="4183888"/>
            <a:ext cx="2011680" cy="201168"/>
          </a:xfrm>
          <a:prstGeom prst="rect">
            <a:avLst/>
          </a:prstGeom>
          <a:noFill/>
        </p:spPr>
        <p:txBody>
          <a:bodyPr wrap="square">
            <a:spAutoFit/>
          </a:bodyPr>
          <a:lstStyle/>
          <a:p>
            <a:pPr algn="l"/>
            <a:r>
              <a:rPr sz="750" b="1" i="0">
                <a:solidFill>
                  <a:srgbClr val="556A60"/>
                </a:solidFill>
                <a:latin typeface="Calibri"/>
              </a:rPr>
              <a:t>The problem isn't the cost</a:t>
            </a:r>
          </a:p>
        </p:txBody>
      </p:sp>
      <p:sp>
        <p:nvSpPr>
          <p:cNvPr id="38" name="TextBox 37"/>
          <p:cNvSpPr txBox="1"/>
          <p:nvPr/>
        </p:nvSpPr>
        <p:spPr>
          <a:xfrm>
            <a:off x="6812280" y="4183888"/>
            <a:ext cx="1828800" cy="457200"/>
          </a:xfrm>
          <a:prstGeom prst="rect">
            <a:avLst/>
          </a:prstGeom>
          <a:noFill/>
        </p:spPr>
        <p:txBody>
          <a:bodyPr wrap="square">
            <a:spAutoFit/>
          </a:bodyPr>
          <a:lstStyle/>
          <a:p>
            <a:pPr algn="r"/>
            <a:r>
              <a:rPr sz="950" b="0" i="0">
                <a:solidFill>
                  <a:srgbClr val="2DCCA0"/>
                </a:solidFill>
                <a:latin typeface="Calibri"/>
              </a:rPr>
              <a:t>It's that you're spending this money and still doing the work.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F1B"/>
        </a:solidFill>
        <a:effectLst/>
      </p:bgPr>
    </p:bg>
    <p:spTree>
      <p:nvGrpSpPr>
        <p:cNvPr id="1" name=""/>
        <p:cNvGrpSpPr/>
        <p:nvPr/>
      </p:nvGrpSpPr>
      <p:grpSpPr/>
      <p:sp>
        <p:nvSpPr>
          <p:cNvPr id="2" name="Rectangle 1"/>
          <p:cNvSpPr/>
          <p:nvPr/>
        </p:nvSpPr>
        <p:spPr>
          <a:xfrm>
            <a:off x="256032" y="137160"/>
            <a:ext cx="68580" cy="68580"/>
          </a:xfrm>
          <a:prstGeom prst="rect">
            <a:avLst/>
          </a:prstGeom>
          <a:solidFill>
            <a:srgbClr val="2DC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2286000" cy="256032"/>
          </a:xfrm>
          <a:prstGeom prst="rect">
            <a:avLst/>
          </a:prstGeom>
          <a:noFill/>
        </p:spPr>
        <p:txBody>
          <a:bodyPr wrap="square">
            <a:spAutoFit/>
          </a:bodyPr>
          <a:lstStyle/>
          <a:p>
            <a:pPr algn="l"/>
            <a:r>
              <a:rPr sz="750" b="1" i="0">
                <a:solidFill>
                  <a:srgbClr val="F4F1EA"/>
                </a:solidFill>
                <a:latin typeface="Calibri"/>
              </a:rPr>
              <a:t>Cashfree · Relay</a:t>
            </a:r>
          </a:p>
        </p:txBody>
      </p:sp>
      <p:sp>
        <p:nvSpPr>
          <p:cNvPr id="4" name="TextBox 3"/>
          <p:cNvSpPr txBox="1"/>
          <p:nvPr/>
        </p:nvSpPr>
        <p:spPr>
          <a:xfrm>
            <a:off x="8686800" y="4850892"/>
            <a:ext cx="457200" cy="228600"/>
          </a:xfrm>
          <a:prstGeom prst="rect">
            <a:avLst/>
          </a:prstGeom>
          <a:noFill/>
        </p:spPr>
        <p:txBody>
          <a:bodyPr wrap="square">
            <a:spAutoFit/>
          </a:bodyPr>
          <a:lstStyle/>
          <a:p>
            <a:pPr algn="r"/>
            <a:r>
              <a:rPr sz="800" b="1" i="0">
                <a:solidFill>
                  <a:srgbClr val="F4F1EA"/>
                </a:solidFill>
                <a:latin typeface="Calibri"/>
              </a:rPr>
              <a:t>04 / 10</a:t>
            </a:r>
          </a:p>
        </p:txBody>
      </p:sp>
      <p:sp>
        <p:nvSpPr>
          <p:cNvPr id="5" name="Rectangle 4"/>
          <p:cNvSpPr/>
          <p:nvPr/>
        </p:nvSpPr>
        <p:spPr>
          <a:xfrm>
            <a:off x="256032" y="329184"/>
            <a:ext cx="8631936" cy="6350"/>
          </a:xfrm>
          <a:prstGeom prst="rect">
            <a:avLst/>
          </a:prstGeom>
          <a:solidFill>
            <a:srgbClr val="2DC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52220"/>
            <a:ext cx="182880" cy="9525"/>
          </a:xfrm>
          <a:prstGeom prst="rect">
            <a:avLst/>
          </a:prstGeom>
          <a:solidFill>
            <a:srgbClr val="00B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1188720"/>
            <a:ext cx="3657600" cy="201168"/>
          </a:xfrm>
          <a:prstGeom prst="rect">
            <a:avLst/>
          </a:prstGeom>
          <a:noFill/>
        </p:spPr>
        <p:txBody>
          <a:bodyPr wrap="square">
            <a:spAutoFit/>
          </a:bodyPr>
          <a:lstStyle/>
          <a:p>
            <a:pPr algn="l"/>
            <a:r>
              <a:rPr sz="750" b="1" i="0">
                <a:solidFill>
                  <a:srgbClr val="889E98"/>
                </a:solidFill>
                <a:latin typeface="Calibri"/>
              </a:rPr>
              <a:t>THE SHIFT</a:t>
            </a:r>
          </a:p>
        </p:txBody>
      </p:sp>
      <p:sp>
        <p:nvSpPr>
          <p:cNvPr id="8" name="TextBox 7"/>
          <p:cNvSpPr txBox="1"/>
          <p:nvPr/>
        </p:nvSpPr>
        <p:spPr>
          <a:xfrm>
            <a:off x="502920" y="1554480"/>
            <a:ext cx="8229600" cy="1737360"/>
          </a:xfrm>
          <a:prstGeom prst="rect">
            <a:avLst/>
          </a:prstGeom>
          <a:noFill/>
        </p:spPr>
        <p:txBody>
          <a:bodyPr wrap="square">
            <a:spAutoFit/>
          </a:bodyPr>
          <a:lstStyle/>
          <a:p>
            <a:r>
              <a:rPr sz="4800">
                <a:solidFill>
                  <a:srgbClr val="F4F1EA"/>
                </a:solidFill>
                <a:latin typeface="Calibri"/>
              </a:rPr>
              <a:t>Not another dashboard.</a:t>
            </a:r>
          </a:p>
          <a:p>
            <a:r>
              <a:rPr sz="4800" i="1">
                <a:solidFill>
                  <a:srgbClr val="2DCCA0"/>
                </a:solidFill>
                <a:latin typeface="Calibri"/>
              </a:rPr>
              <a:t>A team that does the work.</a:t>
            </a:r>
          </a:p>
        </p:txBody>
      </p:sp>
      <p:sp>
        <p:nvSpPr>
          <p:cNvPr id="9" name="TextBox 8"/>
          <p:cNvSpPr txBox="1"/>
          <p:nvPr/>
        </p:nvSpPr>
        <p:spPr>
          <a:xfrm>
            <a:off x="502920" y="3429000"/>
            <a:ext cx="6858000" cy="822960"/>
          </a:xfrm>
          <a:prstGeom prst="rect">
            <a:avLst/>
          </a:prstGeom>
          <a:noFill/>
        </p:spPr>
        <p:txBody>
          <a:bodyPr wrap="square">
            <a:spAutoFit/>
          </a:bodyPr>
          <a:lstStyle/>
          <a:p>
            <a:pPr algn="l"/>
            <a:r>
              <a:rPr sz="1300" b="0" i="1">
                <a:solidFill>
                  <a:srgbClr val="889E98"/>
                </a:solidFill>
                <a:latin typeface="Calibri"/>
              </a:rPr>
              <a:t>"For years, software had businesses see what is happening — dashboards, reports, alerts. But the work, you still had to do it. What you see today is different."</a:t>
            </a:r>
          </a:p>
        </p:txBody>
      </p:sp>
      <p:sp>
        <p:nvSpPr>
          <p:cNvPr id="10" name="TextBox 9"/>
          <p:cNvSpPr txBox="1"/>
          <p:nvPr/>
        </p:nvSpPr>
        <p:spPr>
          <a:xfrm>
            <a:off x="502920" y="4315968"/>
            <a:ext cx="5486400" cy="256032"/>
          </a:xfrm>
          <a:prstGeom prst="rect">
            <a:avLst/>
          </a:prstGeom>
          <a:noFill/>
        </p:spPr>
        <p:txBody>
          <a:bodyPr wrap="square">
            <a:spAutoFit/>
          </a:bodyPr>
          <a:lstStyle/>
          <a:p>
            <a:pPr algn="l"/>
            <a:r>
              <a:rPr sz="700" b="1" i="0">
                <a:solidFill>
                  <a:srgbClr val="445650"/>
                </a:solidFill>
                <a:latin typeface="Calibri"/>
              </a:rPr>
              <a:t>THE SHIFT THE ENTIRE INDUSTRY IS MAKING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BFB"/>
        </a:solidFill>
        <a:effectLst/>
      </p:bgPr>
    </p:bg>
    <p:spTree>
      <p:nvGrpSpPr>
        <p:cNvPr id="1" name=""/>
        <p:cNvGrpSpPr/>
        <p:nvPr/>
      </p:nvGrpSpPr>
      <p:grpSpPr/>
      <p:sp>
        <p:nvSpPr>
          <p:cNvPr id="2" name="Rectangle 1"/>
          <p:cNvSpPr/>
          <p:nvPr/>
        </p:nvSpPr>
        <p:spPr>
          <a:xfrm>
            <a:off x="256032" y="137160"/>
            <a:ext cx="68580" cy="68580"/>
          </a:xfrm>
          <a:prstGeom prst="rect">
            <a:avLst/>
          </a:prstGeom>
          <a:solidFill>
            <a:srgbClr val="00B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2286000" cy="256032"/>
          </a:xfrm>
          <a:prstGeom prst="rect">
            <a:avLst/>
          </a:prstGeom>
          <a:noFill/>
        </p:spPr>
        <p:txBody>
          <a:bodyPr wrap="square">
            <a:spAutoFit/>
          </a:bodyPr>
          <a:lstStyle/>
          <a:p>
            <a:pPr algn="l"/>
            <a:r>
              <a:rPr sz="750" b="1" i="0">
                <a:solidFill>
                  <a:srgbClr val="5E6A66"/>
                </a:solidFill>
                <a:latin typeface="Calibri"/>
              </a:rPr>
              <a:t>Cashfree · Relay</a:t>
            </a:r>
          </a:p>
        </p:txBody>
      </p:sp>
      <p:sp>
        <p:nvSpPr>
          <p:cNvPr id="4" name="TextBox 3"/>
          <p:cNvSpPr txBox="1"/>
          <p:nvPr/>
        </p:nvSpPr>
        <p:spPr>
          <a:xfrm>
            <a:off x="8686800" y="4850892"/>
            <a:ext cx="457200" cy="228600"/>
          </a:xfrm>
          <a:prstGeom prst="rect">
            <a:avLst/>
          </a:prstGeom>
          <a:noFill/>
        </p:spPr>
        <p:txBody>
          <a:bodyPr wrap="square">
            <a:spAutoFit/>
          </a:bodyPr>
          <a:lstStyle/>
          <a:p>
            <a:pPr algn="r"/>
            <a:r>
              <a:rPr sz="800" b="1" i="0">
                <a:solidFill>
                  <a:srgbClr val="0F1F1B"/>
                </a:solidFill>
                <a:latin typeface="Calibri"/>
              </a:rPr>
              <a:t>05 / 10</a:t>
            </a:r>
          </a:p>
        </p:txBody>
      </p:sp>
      <p:sp>
        <p:nvSpPr>
          <p:cNvPr id="5" name="Rectangle 4"/>
          <p:cNvSpPr/>
          <p:nvPr/>
        </p:nvSpPr>
        <p:spPr>
          <a:xfrm>
            <a:off x="256032" y="329184"/>
            <a:ext cx="8631936" cy="6350"/>
          </a:xfrm>
          <a:prstGeom prst="rect">
            <a:avLst/>
          </a:prstGeom>
          <a:solidFill>
            <a:srgbClr val="D6DD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520700"/>
            <a:ext cx="182880" cy="9525"/>
          </a:xfrm>
          <a:prstGeom prst="rect">
            <a:avLst/>
          </a:prstGeom>
          <a:solidFill>
            <a:srgbClr val="00B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457200"/>
            <a:ext cx="3657600" cy="201168"/>
          </a:xfrm>
          <a:prstGeom prst="rect">
            <a:avLst/>
          </a:prstGeom>
          <a:noFill/>
        </p:spPr>
        <p:txBody>
          <a:bodyPr wrap="square">
            <a:spAutoFit/>
          </a:bodyPr>
          <a:lstStyle/>
          <a:p>
            <a:pPr algn="l"/>
            <a:r>
              <a:rPr sz="750" b="1" i="0">
                <a:solidFill>
                  <a:srgbClr val="5E6A66"/>
                </a:solidFill>
                <a:latin typeface="Calibri"/>
              </a:rPr>
              <a:t>ONE SENTENCE</a:t>
            </a:r>
          </a:p>
        </p:txBody>
      </p:sp>
      <p:sp>
        <p:nvSpPr>
          <p:cNvPr id="8" name="TextBox 7"/>
          <p:cNvSpPr txBox="1"/>
          <p:nvPr/>
        </p:nvSpPr>
        <p:spPr>
          <a:xfrm>
            <a:off x="502920" y="731520"/>
            <a:ext cx="8229600" cy="685800"/>
          </a:xfrm>
          <a:prstGeom prst="rect">
            <a:avLst/>
          </a:prstGeom>
          <a:noFill/>
        </p:spPr>
        <p:txBody>
          <a:bodyPr wrap="square">
            <a:spAutoFit/>
          </a:bodyPr>
          <a:lstStyle/>
          <a:p>
            <a:r>
              <a:rPr sz="2000">
                <a:solidFill>
                  <a:srgbClr val="0F1F1B"/>
                </a:solidFill>
                <a:latin typeface="Calibri"/>
              </a:rPr>
              <a:t>Specialized AI agents for every post-payment problem. </a:t>
            </a:r>
            <a:r>
              <a:rPr sz="2000" i="1">
                <a:solidFill>
                  <a:srgbClr val="0F1F1B"/>
                </a:solidFill>
                <a:latin typeface="Calibri"/>
              </a:rPr>
              <a:t>Activate once. They run on every event after that.</a:t>
            </a:r>
          </a:p>
        </p:txBody>
      </p:sp>
      <p:sp>
        <p:nvSpPr>
          <p:cNvPr id="9" name="Rectangle 8"/>
          <p:cNvSpPr/>
          <p:nvPr/>
        </p:nvSpPr>
        <p:spPr>
          <a:xfrm>
            <a:off x="411480" y="1554480"/>
            <a:ext cx="2651760" cy="292608"/>
          </a:xfrm>
          <a:prstGeom prst="rect">
            <a:avLst/>
          </a:prstGeom>
          <a:solidFill>
            <a:srgbClr val="E8F8F3"/>
          </a:solidFill>
          <a:ln w="9525">
            <a:solidFill>
              <a:srgbClr val="00B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605280"/>
            <a:ext cx="2468880" cy="241808"/>
          </a:xfrm>
          <a:prstGeom prst="rect">
            <a:avLst/>
          </a:prstGeom>
          <a:noFill/>
        </p:spPr>
        <p:txBody>
          <a:bodyPr wrap="square">
            <a:spAutoFit/>
          </a:bodyPr>
          <a:lstStyle/>
          <a:p>
            <a:pPr algn="l"/>
            <a:r>
              <a:rPr sz="700" b="1" i="0">
                <a:solidFill>
                  <a:srgbClr val="007A55"/>
                </a:solidFill>
                <a:latin typeface="Calibri"/>
              </a:rPr>
              <a:t>EVENT-TRIGGERED OR SCHEDULED</a:t>
            </a:r>
          </a:p>
        </p:txBody>
      </p:sp>
      <p:sp>
        <p:nvSpPr>
          <p:cNvPr id="11" name="Rectangle 10"/>
          <p:cNvSpPr/>
          <p:nvPr/>
        </p:nvSpPr>
        <p:spPr>
          <a:xfrm>
            <a:off x="411480" y="1847088"/>
            <a:ext cx="2651760" cy="2286000"/>
          </a:xfrm>
          <a:prstGeom prst="rect">
            <a:avLst/>
          </a:prstGeom>
          <a:solidFill>
            <a:srgbClr val="FBFBFB"/>
          </a:solidFill>
          <a:ln w="6350">
            <a:solidFill>
              <a:srgbClr val="00B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923288"/>
            <a:ext cx="2468880" cy="2133600"/>
          </a:xfrm>
          <a:prstGeom prst="rect">
            <a:avLst/>
          </a:prstGeom>
          <a:noFill/>
        </p:spPr>
        <p:txBody>
          <a:bodyPr wrap="square">
            <a:spAutoFit/>
          </a:bodyPr>
          <a:lstStyle/>
          <a:p>
            <a:r>
              <a:rPr sz="950">
                <a:solidFill>
                  <a:srgbClr val="44524C"/>
                </a:solidFill>
                <a:latin typeface="Calibri"/>
              </a:rPr>
              <a:t>Trigger on a Cashfree payment event (COD placed, payment failed, refund initiated, dispute raised) and the AI agent acts within minutes. Or run on a schedule: daily recon, weekly reports, recurring recovery sweeps. Both are built in.</a:t>
            </a:r>
          </a:p>
        </p:txBody>
      </p:sp>
      <p:sp>
        <p:nvSpPr>
          <p:cNvPr id="13" name="Rectangle 12"/>
          <p:cNvSpPr/>
          <p:nvPr/>
        </p:nvSpPr>
        <p:spPr>
          <a:xfrm>
            <a:off x="411480" y="4133088"/>
            <a:ext cx="2651760" cy="256032"/>
          </a:xfrm>
          <a:prstGeom prst="rect">
            <a:avLst/>
          </a:prstGeom>
          <a:solidFill>
            <a:srgbClr val="D6F5EB"/>
          </a:solidFill>
          <a:ln w="6350">
            <a:solidFill>
              <a:srgbClr val="00B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4183888"/>
            <a:ext cx="2468880" cy="256032"/>
          </a:xfrm>
          <a:prstGeom prst="rect">
            <a:avLst/>
          </a:prstGeom>
          <a:noFill/>
        </p:spPr>
        <p:txBody>
          <a:bodyPr wrap="square">
            <a:spAutoFit/>
          </a:bodyPr>
          <a:lstStyle/>
          <a:p>
            <a:pPr algn="l"/>
            <a:r>
              <a:rPr sz="850" b="1" i="0">
                <a:solidFill>
                  <a:srgbClr val="007A55"/>
                </a:solidFill>
                <a:latin typeface="Calibri"/>
              </a:rPr>
              <a:t>COD order in at 2pm · confirmation out by 2:05pm</a:t>
            </a:r>
          </a:p>
        </p:txBody>
      </p:sp>
      <p:sp>
        <p:nvSpPr>
          <p:cNvPr id="15" name="Rectangle 14"/>
          <p:cNvSpPr/>
          <p:nvPr/>
        </p:nvSpPr>
        <p:spPr>
          <a:xfrm>
            <a:off x="3246120" y="1554480"/>
            <a:ext cx="2651760" cy="292608"/>
          </a:xfrm>
          <a:prstGeom prst="rect">
            <a:avLst/>
          </a:prstGeom>
          <a:solidFill>
            <a:srgbClr val="F0F2F1"/>
          </a:solidFill>
          <a:ln w="9525">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37560" y="1605280"/>
            <a:ext cx="2468880" cy="241808"/>
          </a:xfrm>
          <a:prstGeom prst="rect">
            <a:avLst/>
          </a:prstGeom>
          <a:noFill/>
        </p:spPr>
        <p:txBody>
          <a:bodyPr wrap="square">
            <a:spAutoFit/>
          </a:bodyPr>
          <a:lstStyle/>
          <a:p>
            <a:pPr algn="l"/>
            <a:r>
              <a:rPr sz="700" b="1" i="0">
                <a:solidFill>
                  <a:srgbClr val="5E6A66"/>
                </a:solidFill>
                <a:latin typeface="Calibri"/>
              </a:rPr>
              <a:t>NO DEVELOPER NEEDED</a:t>
            </a:r>
          </a:p>
        </p:txBody>
      </p:sp>
      <p:sp>
        <p:nvSpPr>
          <p:cNvPr id="17" name="Rectangle 16"/>
          <p:cNvSpPr/>
          <p:nvPr/>
        </p:nvSpPr>
        <p:spPr>
          <a:xfrm>
            <a:off x="3246120" y="1847088"/>
            <a:ext cx="2651760" cy="2286000"/>
          </a:xfrm>
          <a:prstGeom prst="rect">
            <a:avLst/>
          </a:prstGeom>
          <a:solidFill>
            <a:srgbClr val="FBFBFB"/>
          </a:solidFill>
          <a:ln w="6350">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37560" y="1923288"/>
            <a:ext cx="2468880" cy="2133600"/>
          </a:xfrm>
          <a:prstGeom prst="rect">
            <a:avLst/>
          </a:prstGeom>
          <a:noFill/>
        </p:spPr>
        <p:txBody>
          <a:bodyPr wrap="square">
            <a:spAutoFit/>
          </a:bodyPr>
          <a:lstStyle/>
          <a:p>
            <a:r>
              <a:rPr sz="950">
                <a:solidFill>
                  <a:srgbClr val="44524C"/>
                </a:solidFill>
                <a:latin typeface="Calibri"/>
              </a:rPr>
              <a:t>Activate from inside the Cashfree dashboard. Set your guardrails once: what to send, when to escalate, when to flag you. The AI agent follows those rules on every qualifying event. No webhook setup. No API keys to manage.</a:t>
            </a:r>
          </a:p>
        </p:txBody>
      </p:sp>
      <p:sp>
        <p:nvSpPr>
          <p:cNvPr id="19" name="Rectangle 18"/>
          <p:cNvSpPr/>
          <p:nvPr/>
        </p:nvSpPr>
        <p:spPr>
          <a:xfrm>
            <a:off x="3246120" y="4133088"/>
            <a:ext cx="2651760" cy="256032"/>
          </a:xfrm>
          <a:prstGeom prst="rect">
            <a:avLst/>
          </a:prstGeom>
          <a:solidFill>
            <a:srgbClr val="F7F8F8"/>
          </a:solidFill>
          <a:ln w="6350">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37560" y="4183888"/>
            <a:ext cx="2468880" cy="256032"/>
          </a:xfrm>
          <a:prstGeom prst="rect">
            <a:avLst/>
          </a:prstGeom>
          <a:noFill/>
        </p:spPr>
        <p:txBody>
          <a:bodyPr wrap="square">
            <a:spAutoFit/>
          </a:bodyPr>
          <a:lstStyle/>
          <a:p>
            <a:pPr algn="l"/>
            <a:r>
              <a:rPr sz="850" b="1" i="0">
                <a:solidFill>
                  <a:srgbClr val="44524C"/>
                </a:solidFill>
                <a:latin typeface="Calibri"/>
              </a:rPr>
              <a:t>You set the rules once. The AI agent runs forever.</a:t>
            </a:r>
          </a:p>
        </p:txBody>
      </p:sp>
      <p:sp>
        <p:nvSpPr>
          <p:cNvPr id="21" name="Rectangle 20"/>
          <p:cNvSpPr/>
          <p:nvPr/>
        </p:nvSpPr>
        <p:spPr>
          <a:xfrm>
            <a:off x="6080760" y="1554480"/>
            <a:ext cx="2651760" cy="292608"/>
          </a:xfrm>
          <a:prstGeom prst="rect">
            <a:avLst/>
          </a:prstGeom>
          <a:solidFill>
            <a:srgbClr val="F0F2F1"/>
          </a:solidFill>
          <a:ln w="9525">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72200" y="1605280"/>
            <a:ext cx="2468880" cy="241808"/>
          </a:xfrm>
          <a:prstGeom prst="rect">
            <a:avLst/>
          </a:prstGeom>
          <a:noFill/>
        </p:spPr>
        <p:txBody>
          <a:bodyPr wrap="square">
            <a:spAutoFit/>
          </a:bodyPr>
          <a:lstStyle/>
          <a:p>
            <a:pPr algn="l"/>
            <a:r>
              <a:rPr sz="700" b="1" i="0">
                <a:solidFill>
                  <a:srgbClr val="5E6A66"/>
                </a:solidFill>
                <a:latin typeface="Calibri"/>
              </a:rPr>
              <a:t>DATA STAYS IN CASHFREE</a:t>
            </a:r>
          </a:p>
        </p:txBody>
      </p:sp>
      <p:sp>
        <p:nvSpPr>
          <p:cNvPr id="23" name="Rectangle 22"/>
          <p:cNvSpPr/>
          <p:nvPr/>
        </p:nvSpPr>
        <p:spPr>
          <a:xfrm>
            <a:off x="6080760" y="1847088"/>
            <a:ext cx="2651760" cy="2286000"/>
          </a:xfrm>
          <a:prstGeom prst="rect">
            <a:avLst/>
          </a:prstGeom>
          <a:solidFill>
            <a:srgbClr val="FBFBFB"/>
          </a:solidFill>
          <a:ln w="6350">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72200" y="1923288"/>
            <a:ext cx="2468880" cy="2133600"/>
          </a:xfrm>
          <a:prstGeom prst="rect">
            <a:avLst/>
          </a:prstGeom>
          <a:noFill/>
        </p:spPr>
        <p:txBody>
          <a:bodyPr wrap="square">
            <a:spAutoFit/>
          </a:bodyPr>
          <a:lstStyle/>
          <a:p>
            <a:r>
              <a:rPr sz="950">
                <a:solidFill>
                  <a:srgbClr val="44524C"/>
                </a:solidFill>
                <a:latin typeface="Calibri"/>
              </a:rPr>
              <a:t>Relay runs inside Cashfree's PCI DSS Level 1 and SOC infrastructure. Google, Slack, and WhatsApp only receive the specific fields you send them in each step. Nothing else leaves.</a:t>
            </a:r>
          </a:p>
        </p:txBody>
      </p:sp>
      <p:sp>
        <p:nvSpPr>
          <p:cNvPr id="25" name="Rectangle 24"/>
          <p:cNvSpPr/>
          <p:nvPr/>
        </p:nvSpPr>
        <p:spPr>
          <a:xfrm>
            <a:off x="6080760" y="4133088"/>
            <a:ext cx="2651760" cy="256032"/>
          </a:xfrm>
          <a:prstGeom prst="rect">
            <a:avLst/>
          </a:prstGeom>
          <a:solidFill>
            <a:srgbClr val="F7F8F8"/>
          </a:solidFill>
          <a:ln w="6350">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72200" y="4183888"/>
            <a:ext cx="2468880" cy="256032"/>
          </a:xfrm>
          <a:prstGeom prst="rect">
            <a:avLst/>
          </a:prstGeom>
          <a:noFill/>
        </p:spPr>
        <p:txBody>
          <a:bodyPr wrap="square">
            <a:spAutoFit/>
          </a:bodyPr>
          <a:lstStyle/>
          <a:p>
            <a:pPr algn="l"/>
            <a:r>
              <a:rPr sz="850" b="1" i="0">
                <a:solidFill>
                  <a:srgbClr val="44524C"/>
                </a:solidFill>
                <a:latin typeface="Calibri"/>
              </a:rPr>
              <a:t>You control the AI agents. Cashfree runs them.</a:t>
            </a:r>
          </a:p>
        </p:txBody>
      </p:sp>
      <p:sp>
        <p:nvSpPr>
          <p:cNvPr id="27" name="Rectangle 26"/>
          <p:cNvSpPr/>
          <p:nvPr/>
        </p:nvSpPr>
        <p:spPr>
          <a:xfrm>
            <a:off x="411480" y="4526280"/>
            <a:ext cx="8321040" cy="347472"/>
          </a:xfrm>
          <a:prstGeom prst="rect">
            <a:avLst/>
          </a:prstGeom>
          <a:solidFill>
            <a:srgbClr val="F0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4572000"/>
            <a:ext cx="8229600" cy="274320"/>
          </a:xfrm>
          <a:prstGeom prst="rect">
            <a:avLst/>
          </a:prstGeom>
          <a:noFill/>
        </p:spPr>
        <p:txBody>
          <a:bodyPr wrap="square">
            <a:spAutoFit/>
          </a:bodyPr>
          <a:lstStyle/>
          <a:p>
            <a:pPr algn="l"/>
            <a:r>
              <a:rPr sz="950" b="0" i="1">
                <a:solidFill>
                  <a:srgbClr val="44524C"/>
                </a:solidFill>
                <a:latin typeface="Calibri"/>
              </a:rPr>
              <a:t>=&gt; Most tools need your payment data passed to them. Relay already has it. That is the entire difference.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BFB"/>
        </a:solidFill>
        <a:effectLst/>
      </p:bgPr>
    </p:bg>
    <p:spTree>
      <p:nvGrpSpPr>
        <p:cNvPr id="1" name=""/>
        <p:cNvGrpSpPr/>
        <p:nvPr/>
      </p:nvGrpSpPr>
      <p:grpSpPr/>
      <p:sp>
        <p:nvSpPr>
          <p:cNvPr id="2" name="Rectangle 1"/>
          <p:cNvSpPr/>
          <p:nvPr/>
        </p:nvSpPr>
        <p:spPr>
          <a:xfrm>
            <a:off x="256032" y="137160"/>
            <a:ext cx="68580" cy="68580"/>
          </a:xfrm>
          <a:prstGeom prst="rect">
            <a:avLst/>
          </a:prstGeom>
          <a:solidFill>
            <a:srgbClr val="00B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2286000" cy="256032"/>
          </a:xfrm>
          <a:prstGeom prst="rect">
            <a:avLst/>
          </a:prstGeom>
          <a:noFill/>
        </p:spPr>
        <p:txBody>
          <a:bodyPr wrap="square">
            <a:spAutoFit/>
          </a:bodyPr>
          <a:lstStyle/>
          <a:p>
            <a:pPr algn="l"/>
            <a:r>
              <a:rPr sz="750" b="1" i="0">
                <a:solidFill>
                  <a:srgbClr val="5E6A66"/>
                </a:solidFill>
                <a:latin typeface="Calibri"/>
              </a:rPr>
              <a:t>Cashfree · Relay</a:t>
            </a:r>
          </a:p>
        </p:txBody>
      </p:sp>
      <p:sp>
        <p:nvSpPr>
          <p:cNvPr id="4" name="TextBox 3"/>
          <p:cNvSpPr txBox="1"/>
          <p:nvPr/>
        </p:nvSpPr>
        <p:spPr>
          <a:xfrm>
            <a:off x="8686800" y="4850892"/>
            <a:ext cx="457200" cy="228600"/>
          </a:xfrm>
          <a:prstGeom prst="rect">
            <a:avLst/>
          </a:prstGeom>
          <a:noFill/>
        </p:spPr>
        <p:txBody>
          <a:bodyPr wrap="square">
            <a:spAutoFit/>
          </a:bodyPr>
          <a:lstStyle/>
          <a:p>
            <a:pPr algn="r"/>
            <a:r>
              <a:rPr sz="800" b="1" i="0">
                <a:solidFill>
                  <a:srgbClr val="0F1F1B"/>
                </a:solidFill>
                <a:latin typeface="Calibri"/>
              </a:rPr>
              <a:t>06 / 10</a:t>
            </a:r>
          </a:p>
        </p:txBody>
      </p:sp>
      <p:sp>
        <p:nvSpPr>
          <p:cNvPr id="5" name="Rectangle 4"/>
          <p:cNvSpPr/>
          <p:nvPr/>
        </p:nvSpPr>
        <p:spPr>
          <a:xfrm>
            <a:off x="256032" y="329184"/>
            <a:ext cx="8631936" cy="6350"/>
          </a:xfrm>
          <a:prstGeom prst="rect">
            <a:avLst/>
          </a:prstGeom>
          <a:solidFill>
            <a:srgbClr val="D6DD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520700"/>
            <a:ext cx="182880" cy="9525"/>
          </a:xfrm>
          <a:prstGeom prst="rect">
            <a:avLst/>
          </a:prstGeom>
          <a:solidFill>
            <a:srgbClr val="00B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457200"/>
            <a:ext cx="6400800" cy="201168"/>
          </a:xfrm>
          <a:prstGeom prst="rect">
            <a:avLst/>
          </a:prstGeom>
          <a:noFill/>
        </p:spPr>
        <p:txBody>
          <a:bodyPr wrap="square">
            <a:spAutoFit/>
          </a:bodyPr>
          <a:lstStyle/>
          <a:p>
            <a:pPr algn="l"/>
            <a:r>
              <a:rPr sz="750" b="1" i="0">
                <a:solidFill>
                  <a:srgbClr val="5E6A66"/>
                </a:solidFill>
                <a:latin typeface="Calibri"/>
              </a:rPr>
              <a:t>TRIGGER FROM CASHFREE. ACT EVERYWHERE ELSE.</a:t>
            </a:r>
          </a:p>
        </p:txBody>
      </p:sp>
      <p:sp>
        <p:nvSpPr>
          <p:cNvPr id="8" name="TextBox 7"/>
          <p:cNvSpPr txBox="1"/>
          <p:nvPr/>
        </p:nvSpPr>
        <p:spPr>
          <a:xfrm>
            <a:off x="502920" y="749808"/>
            <a:ext cx="5029200" cy="411480"/>
          </a:xfrm>
          <a:prstGeom prst="rect">
            <a:avLst/>
          </a:prstGeom>
          <a:noFill/>
        </p:spPr>
        <p:txBody>
          <a:bodyPr wrap="square">
            <a:spAutoFit/>
          </a:bodyPr>
          <a:lstStyle/>
          <a:p>
            <a:pPr algn="l"/>
            <a:r>
              <a:rPr sz="2200" b="0" i="0">
                <a:solidFill>
                  <a:srgbClr val="0F1F1B"/>
                </a:solidFill>
                <a:latin typeface="Calibri"/>
              </a:rPr>
              <a:t>Your payment event happens.</a:t>
            </a:r>
          </a:p>
        </p:txBody>
      </p:sp>
      <p:sp>
        <p:nvSpPr>
          <p:cNvPr id="9" name="TextBox 8"/>
          <p:cNvSpPr txBox="1"/>
          <p:nvPr/>
        </p:nvSpPr>
        <p:spPr>
          <a:xfrm>
            <a:off x="502920" y="1115568"/>
            <a:ext cx="5029200" cy="411480"/>
          </a:xfrm>
          <a:prstGeom prst="rect">
            <a:avLst/>
          </a:prstGeom>
          <a:noFill/>
        </p:spPr>
        <p:txBody>
          <a:bodyPr wrap="square">
            <a:spAutoFit/>
          </a:bodyPr>
          <a:lstStyle/>
          <a:p>
            <a:pPr algn="l"/>
            <a:r>
              <a:rPr sz="2200" b="0" i="1">
                <a:solidFill>
                  <a:srgbClr val="0F1F1B"/>
                </a:solidFill>
                <a:latin typeface="Calibri"/>
              </a:rPr>
              <a:t>Relay takes it from there.</a:t>
            </a:r>
          </a:p>
        </p:txBody>
      </p:sp>
      <p:sp>
        <p:nvSpPr>
          <p:cNvPr id="10" name="TextBox 9"/>
          <p:cNvSpPr txBox="1"/>
          <p:nvPr/>
        </p:nvSpPr>
        <p:spPr>
          <a:xfrm>
            <a:off x="411480" y="1645920"/>
            <a:ext cx="2286000" cy="228600"/>
          </a:xfrm>
          <a:prstGeom prst="rect">
            <a:avLst/>
          </a:prstGeom>
          <a:noFill/>
        </p:spPr>
        <p:txBody>
          <a:bodyPr wrap="square">
            <a:spAutoFit/>
          </a:bodyPr>
          <a:lstStyle/>
          <a:p>
            <a:pPr algn="l"/>
            <a:r>
              <a:rPr sz="750" b="1" i="0">
                <a:solidFill>
                  <a:srgbClr val="007A55"/>
                </a:solidFill>
                <a:latin typeface="Calibri"/>
              </a:rPr>
              <a:t>TRIGGER</a:t>
            </a:r>
          </a:p>
        </p:txBody>
      </p:sp>
      <p:sp>
        <p:nvSpPr>
          <p:cNvPr id="11" name="Rectangle 10"/>
          <p:cNvSpPr/>
          <p:nvPr/>
        </p:nvSpPr>
        <p:spPr>
          <a:xfrm>
            <a:off x="411480" y="1901952"/>
            <a:ext cx="2286000" cy="1371600"/>
          </a:xfrm>
          <a:prstGeom prst="rect">
            <a:avLst/>
          </a:prstGeom>
          <a:solidFill>
            <a:srgbClr val="E8F8F3"/>
          </a:solidFill>
          <a:ln w="15240">
            <a:solidFill>
              <a:srgbClr val="00B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 y="1975104"/>
            <a:ext cx="2103120" cy="256032"/>
          </a:xfrm>
          <a:prstGeom prst="rect">
            <a:avLst/>
          </a:prstGeom>
          <a:noFill/>
        </p:spPr>
        <p:txBody>
          <a:bodyPr wrap="square">
            <a:spAutoFit/>
          </a:bodyPr>
          <a:lstStyle/>
          <a:p>
            <a:pPr algn="l"/>
            <a:r>
              <a:rPr sz="1100" b="1" i="0">
                <a:solidFill>
                  <a:srgbClr val="0F1F1B"/>
                </a:solidFill>
                <a:latin typeface="Calibri"/>
              </a:rPr>
              <a:t>Cashfree Payments</a:t>
            </a:r>
          </a:p>
        </p:txBody>
      </p:sp>
      <p:sp>
        <p:nvSpPr>
          <p:cNvPr id="13" name="TextBox 12"/>
          <p:cNvSpPr txBox="1"/>
          <p:nvPr/>
        </p:nvSpPr>
        <p:spPr>
          <a:xfrm>
            <a:off x="521208" y="2240280"/>
            <a:ext cx="2103120" cy="640080"/>
          </a:xfrm>
          <a:prstGeom prst="rect">
            <a:avLst/>
          </a:prstGeom>
          <a:noFill/>
        </p:spPr>
        <p:txBody>
          <a:bodyPr wrap="square">
            <a:spAutoFit/>
          </a:bodyPr>
          <a:lstStyle/>
          <a:p>
            <a:pPr algn="l"/>
            <a:r>
              <a:rPr sz="900" b="0" i="0">
                <a:solidFill>
                  <a:srgbClr val="44524C"/>
                </a:solidFill>
                <a:latin typeface="Calibri"/>
              </a:rPr>
              <a:t>11 actions: payments, refunds, disputes, settlement, payment links, cashgrams.</a:t>
            </a:r>
          </a:p>
        </p:txBody>
      </p:sp>
      <p:sp>
        <p:nvSpPr>
          <p:cNvPr id="14" name="TextBox 13"/>
          <p:cNvSpPr txBox="1"/>
          <p:nvPr/>
        </p:nvSpPr>
        <p:spPr>
          <a:xfrm>
            <a:off x="521208" y="2880360"/>
            <a:ext cx="2103120" cy="320040"/>
          </a:xfrm>
          <a:prstGeom prst="rect">
            <a:avLst/>
          </a:prstGeom>
          <a:noFill/>
        </p:spPr>
        <p:txBody>
          <a:bodyPr wrap="square">
            <a:spAutoFit/>
          </a:bodyPr>
          <a:lstStyle/>
          <a:p>
            <a:pPr algn="l"/>
            <a:r>
              <a:rPr sz="850" b="1" i="0">
                <a:solidFill>
                  <a:srgbClr val="007A55"/>
                </a:solidFill>
                <a:latin typeface="Calibri"/>
              </a:rPr>
              <a:t>Your existing Cashfree account. No extra setup.</a:t>
            </a:r>
          </a:p>
        </p:txBody>
      </p:sp>
      <p:sp>
        <p:nvSpPr>
          <p:cNvPr id="15" name="Rectangle 14"/>
          <p:cNvSpPr/>
          <p:nvPr/>
        </p:nvSpPr>
        <p:spPr>
          <a:xfrm>
            <a:off x="411480" y="3383280"/>
            <a:ext cx="2286000" cy="914400"/>
          </a:xfrm>
          <a:prstGeom prst="rect">
            <a:avLst/>
          </a:prstGeom>
          <a:solidFill>
            <a:srgbClr val="FBFBFB"/>
          </a:solidFill>
          <a:ln w="9525">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1208" y="3456432"/>
            <a:ext cx="2103120" cy="256032"/>
          </a:xfrm>
          <a:prstGeom prst="rect">
            <a:avLst/>
          </a:prstGeom>
          <a:noFill/>
        </p:spPr>
        <p:txBody>
          <a:bodyPr wrap="square">
            <a:spAutoFit/>
          </a:bodyPr>
          <a:lstStyle/>
          <a:p>
            <a:pPr algn="l"/>
            <a:r>
              <a:rPr sz="1100" b="1" i="0">
                <a:solidFill>
                  <a:srgbClr val="0F1F1B"/>
                </a:solidFill>
                <a:latin typeface="Calibri"/>
              </a:rPr>
              <a:t>Schedule</a:t>
            </a:r>
          </a:p>
        </p:txBody>
      </p:sp>
      <p:sp>
        <p:nvSpPr>
          <p:cNvPr id="17" name="TextBox 16"/>
          <p:cNvSpPr txBox="1"/>
          <p:nvPr/>
        </p:nvSpPr>
        <p:spPr>
          <a:xfrm>
            <a:off x="521208" y="3730751"/>
            <a:ext cx="2103120" cy="530352"/>
          </a:xfrm>
          <a:prstGeom prst="rect">
            <a:avLst/>
          </a:prstGeom>
          <a:noFill/>
        </p:spPr>
        <p:txBody>
          <a:bodyPr wrap="square">
            <a:spAutoFit/>
          </a:bodyPr>
          <a:lstStyle/>
          <a:p>
            <a:pPr algn="l"/>
            <a:r>
              <a:rPr sz="900" b="0" i="0">
                <a:solidFill>
                  <a:srgbClr val="44524C"/>
                </a:solidFill>
                <a:latin typeface="Calibri"/>
              </a:rPr>
              <a:t>Daily, weekly, or custom cadence. Recon sweeps, recovery batches, periodic reports.</a:t>
            </a:r>
          </a:p>
        </p:txBody>
      </p:sp>
      <p:sp>
        <p:nvSpPr>
          <p:cNvPr id="18" name="Rectangle 17"/>
          <p:cNvSpPr/>
          <p:nvPr/>
        </p:nvSpPr>
        <p:spPr>
          <a:xfrm>
            <a:off x="2807208" y="1645920"/>
            <a:ext cx="9525" cy="3200400"/>
          </a:xfrm>
          <a:prstGeom prst="rect">
            <a:avLst/>
          </a:prstGeom>
          <a:solidFill>
            <a:srgbClr val="D6DD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71800" y="1645920"/>
            <a:ext cx="3474720" cy="228600"/>
          </a:xfrm>
          <a:prstGeom prst="rect">
            <a:avLst/>
          </a:prstGeom>
          <a:noFill/>
        </p:spPr>
        <p:txBody>
          <a:bodyPr wrap="square">
            <a:spAutoFit/>
          </a:bodyPr>
          <a:lstStyle/>
          <a:p>
            <a:pPr algn="l"/>
            <a:r>
              <a:rPr sz="750" b="1" i="0">
                <a:solidFill>
                  <a:srgbClr val="5E6A66"/>
                </a:solidFill>
                <a:latin typeface="Calibri"/>
              </a:rPr>
              <a:t>ACT VIA</a:t>
            </a:r>
          </a:p>
        </p:txBody>
      </p:sp>
      <p:sp>
        <p:nvSpPr>
          <p:cNvPr id="20" name="Rectangle 19"/>
          <p:cNvSpPr/>
          <p:nvPr/>
        </p:nvSpPr>
        <p:spPr>
          <a:xfrm>
            <a:off x="2971800" y="1901952"/>
            <a:ext cx="1691640" cy="594360"/>
          </a:xfrm>
          <a:prstGeom prst="rect">
            <a:avLst/>
          </a:prstGeom>
          <a:solidFill>
            <a:srgbClr val="FBFBFB"/>
          </a:solidFill>
          <a:ln w="6350">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63240" y="1965452"/>
            <a:ext cx="1554480" cy="256032"/>
          </a:xfrm>
          <a:prstGeom prst="rect">
            <a:avLst/>
          </a:prstGeom>
          <a:noFill/>
        </p:spPr>
        <p:txBody>
          <a:bodyPr wrap="square">
            <a:spAutoFit/>
          </a:bodyPr>
          <a:lstStyle/>
          <a:p>
            <a:pPr algn="l"/>
            <a:r>
              <a:rPr sz="1000" b="1" i="0">
                <a:solidFill>
                  <a:srgbClr val="0F1F1B"/>
                </a:solidFill>
                <a:latin typeface="Calibri"/>
              </a:rPr>
              <a:t>WhatsApp Business</a:t>
            </a:r>
          </a:p>
        </p:txBody>
      </p:sp>
      <p:sp>
        <p:nvSpPr>
          <p:cNvPr id="22" name="TextBox 21"/>
          <p:cNvSpPr txBox="1"/>
          <p:nvPr/>
        </p:nvSpPr>
        <p:spPr>
          <a:xfrm>
            <a:off x="3063240" y="2203704"/>
            <a:ext cx="1554480" cy="228600"/>
          </a:xfrm>
          <a:prstGeom prst="rect">
            <a:avLst/>
          </a:prstGeom>
          <a:noFill/>
        </p:spPr>
        <p:txBody>
          <a:bodyPr wrap="square">
            <a:spAutoFit/>
          </a:bodyPr>
          <a:lstStyle/>
          <a:p>
            <a:pPr algn="l"/>
            <a:r>
              <a:rPr sz="800" b="0" i="0">
                <a:solidFill>
                  <a:srgbClr val="5E6A66"/>
                </a:solidFill>
                <a:latin typeface="Calibri"/>
              </a:rPr>
              <a:t>2 actions</a:t>
            </a:r>
          </a:p>
        </p:txBody>
      </p:sp>
      <p:sp>
        <p:nvSpPr>
          <p:cNvPr id="23" name="Rectangle 22"/>
          <p:cNvSpPr/>
          <p:nvPr/>
        </p:nvSpPr>
        <p:spPr>
          <a:xfrm>
            <a:off x="4736592" y="1901952"/>
            <a:ext cx="1691640" cy="594360"/>
          </a:xfrm>
          <a:prstGeom prst="rect">
            <a:avLst/>
          </a:prstGeom>
          <a:solidFill>
            <a:srgbClr val="FBFBFB"/>
          </a:solidFill>
          <a:ln w="6350">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28032" y="1965452"/>
            <a:ext cx="1554480" cy="256032"/>
          </a:xfrm>
          <a:prstGeom prst="rect">
            <a:avLst/>
          </a:prstGeom>
          <a:noFill/>
        </p:spPr>
        <p:txBody>
          <a:bodyPr wrap="square">
            <a:spAutoFit/>
          </a:bodyPr>
          <a:lstStyle/>
          <a:p>
            <a:pPr algn="l"/>
            <a:r>
              <a:rPr sz="1000" b="1" i="0">
                <a:solidFill>
                  <a:srgbClr val="0F1F1B"/>
                </a:solidFill>
                <a:latin typeface="Calibri"/>
              </a:rPr>
              <a:t>Google Sheets</a:t>
            </a:r>
          </a:p>
        </p:txBody>
      </p:sp>
      <p:sp>
        <p:nvSpPr>
          <p:cNvPr id="25" name="TextBox 24"/>
          <p:cNvSpPr txBox="1"/>
          <p:nvPr/>
        </p:nvSpPr>
        <p:spPr>
          <a:xfrm>
            <a:off x="4828032" y="2203704"/>
            <a:ext cx="1554480" cy="228600"/>
          </a:xfrm>
          <a:prstGeom prst="rect">
            <a:avLst/>
          </a:prstGeom>
          <a:noFill/>
        </p:spPr>
        <p:txBody>
          <a:bodyPr wrap="square">
            <a:spAutoFit/>
          </a:bodyPr>
          <a:lstStyle/>
          <a:p>
            <a:pPr algn="l"/>
            <a:r>
              <a:rPr sz="800" b="0" i="0">
                <a:solidFill>
                  <a:srgbClr val="5E6A66"/>
                </a:solidFill>
                <a:latin typeface="Calibri"/>
              </a:rPr>
              <a:t>1 action</a:t>
            </a:r>
          </a:p>
        </p:txBody>
      </p:sp>
      <p:sp>
        <p:nvSpPr>
          <p:cNvPr id="26" name="Rectangle 25"/>
          <p:cNvSpPr/>
          <p:nvPr/>
        </p:nvSpPr>
        <p:spPr>
          <a:xfrm>
            <a:off x="2971800" y="2560320"/>
            <a:ext cx="1691640" cy="594360"/>
          </a:xfrm>
          <a:prstGeom prst="rect">
            <a:avLst/>
          </a:prstGeom>
          <a:solidFill>
            <a:srgbClr val="FBFBFB"/>
          </a:solidFill>
          <a:ln w="6350">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63240" y="2623820"/>
            <a:ext cx="1554480" cy="256032"/>
          </a:xfrm>
          <a:prstGeom prst="rect">
            <a:avLst/>
          </a:prstGeom>
          <a:noFill/>
        </p:spPr>
        <p:txBody>
          <a:bodyPr wrap="square">
            <a:spAutoFit/>
          </a:bodyPr>
          <a:lstStyle/>
          <a:p>
            <a:pPr algn="l"/>
            <a:r>
              <a:rPr sz="1000" b="1" i="0">
                <a:solidFill>
                  <a:srgbClr val="0F1F1B"/>
                </a:solidFill>
                <a:latin typeface="Calibri"/>
              </a:rPr>
              <a:t>Slack</a:t>
            </a:r>
          </a:p>
        </p:txBody>
      </p:sp>
      <p:sp>
        <p:nvSpPr>
          <p:cNvPr id="28" name="TextBox 27"/>
          <p:cNvSpPr txBox="1"/>
          <p:nvPr/>
        </p:nvSpPr>
        <p:spPr>
          <a:xfrm>
            <a:off x="3063240" y="2862072"/>
            <a:ext cx="1554480" cy="228600"/>
          </a:xfrm>
          <a:prstGeom prst="rect">
            <a:avLst/>
          </a:prstGeom>
          <a:noFill/>
        </p:spPr>
        <p:txBody>
          <a:bodyPr wrap="square">
            <a:spAutoFit/>
          </a:bodyPr>
          <a:lstStyle/>
          <a:p>
            <a:pPr algn="l"/>
            <a:r>
              <a:rPr sz="800" b="0" i="0">
                <a:solidFill>
                  <a:srgbClr val="5E6A66"/>
                </a:solidFill>
                <a:latin typeface="Calibri"/>
              </a:rPr>
              <a:t>4 actions</a:t>
            </a:r>
          </a:p>
        </p:txBody>
      </p:sp>
      <p:sp>
        <p:nvSpPr>
          <p:cNvPr id="29" name="Rectangle 28"/>
          <p:cNvSpPr/>
          <p:nvPr/>
        </p:nvSpPr>
        <p:spPr>
          <a:xfrm>
            <a:off x="4736592" y="2560320"/>
            <a:ext cx="1691640" cy="594360"/>
          </a:xfrm>
          <a:prstGeom prst="rect">
            <a:avLst/>
          </a:prstGeom>
          <a:solidFill>
            <a:srgbClr val="FBFBFB"/>
          </a:solidFill>
          <a:ln w="6350">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28032" y="2623820"/>
            <a:ext cx="1554480" cy="256032"/>
          </a:xfrm>
          <a:prstGeom prst="rect">
            <a:avLst/>
          </a:prstGeom>
          <a:noFill/>
        </p:spPr>
        <p:txBody>
          <a:bodyPr wrap="square">
            <a:spAutoFit/>
          </a:bodyPr>
          <a:lstStyle/>
          <a:p>
            <a:pPr algn="l"/>
            <a:r>
              <a:rPr sz="1000" b="1" i="0">
                <a:solidFill>
                  <a:srgbClr val="0F1F1B"/>
                </a:solidFill>
                <a:latin typeface="Calibri"/>
              </a:rPr>
              <a:t>Gmail</a:t>
            </a:r>
          </a:p>
        </p:txBody>
      </p:sp>
      <p:sp>
        <p:nvSpPr>
          <p:cNvPr id="31" name="TextBox 30"/>
          <p:cNvSpPr txBox="1"/>
          <p:nvPr/>
        </p:nvSpPr>
        <p:spPr>
          <a:xfrm>
            <a:off x="4828032" y="2862072"/>
            <a:ext cx="1554480" cy="228600"/>
          </a:xfrm>
          <a:prstGeom prst="rect">
            <a:avLst/>
          </a:prstGeom>
          <a:noFill/>
        </p:spPr>
        <p:txBody>
          <a:bodyPr wrap="square">
            <a:spAutoFit/>
          </a:bodyPr>
          <a:lstStyle/>
          <a:p>
            <a:pPr algn="l"/>
            <a:r>
              <a:rPr sz="800" b="0" i="0">
                <a:solidFill>
                  <a:srgbClr val="5E6A66"/>
                </a:solidFill>
                <a:latin typeface="Calibri"/>
              </a:rPr>
              <a:t>2 actions</a:t>
            </a:r>
          </a:p>
        </p:txBody>
      </p:sp>
      <p:sp>
        <p:nvSpPr>
          <p:cNvPr id="32" name="Rectangle 31"/>
          <p:cNvSpPr/>
          <p:nvPr/>
        </p:nvSpPr>
        <p:spPr>
          <a:xfrm>
            <a:off x="2971800" y="3218688"/>
            <a:ext cx="1691640" cy="594360"/>
          </a:xfrm>
          <a:prstGeom prst="rect">
            <a:avLst/>
          </a:prstGeom>
          <a:solidFill>
            <a:srgbClr val="FBFBFB"/>
          </a:solidFill>
          <a:ln w="6350">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063240" y="3282188"/>
            <a:ext cx="1554480" cy="256032"/>
          </a:xfrm>
          <a:prstGeom prst="rect">
            <a:avLst/>
          </a:prstGeom>
          <a:noFill/>
        </p:spPr>
        <p:txBody>
          <a:bodyPr wrap="square">
            <a:spAutoFit/>
          </a:bodyPr>
          <a:lstStyle/>
          <a:p>
            <a:pPr algn="l"/>
            <a:r>
              <a:rPr sz="1000" b="1" i="0">
                <a:solidFill>
                  <a:srgbClr val="0F1F1B"/>
                </a:solidFill>
                <a:latin typeface="Calibri"/>
              </a:rPr>
              <a:t>Google Calendar</a:t>
            </a:r>
          </a:p>
        </p:txBody>
      </p:sp>
      <p:sp>
        <p:nvSpPr>
          <p:cNvPr id="34" name="TextBox 33"/>
          <p:cNvSpPr txBox="1"/>
          <p:nvPr/>
        </p:nvSpPr>
        <p:spPr>
          <a:xfrm>
            <a:off x="3063240" y="3520440"/>
            <a:ext cx="1554480" cy="228600"/>
          </a:xfrm>
          <a:prstGeom prst="rect">
            <a:avLst/>
          </a:prstGeom>
          <a:noFill/>
        </p:spPr>
        <p:txBody>
          <a:bodyPr wrap="square">
            <a:spAutoFit/>
          </a:bodyPr>
          <a:lstStyle/>
          <a:p>
            <a:pPr algn="l"/>
            <a:r>
              <a:rPr sz="800" b="0" i="0">
                <a:solidFill>
                  <a:srgbClr val="5E6A66"/>
                </a:solidFill>
                <a:latin typeface="Calibri"/>
              </a:rPr>
              <a:t>2 actions</a:t>
            </a:r>
          </a:p>
        </p:txBody>
      </p:sp>
      <p:sp>
        <p:nvSpPr>
          <p:cNvPr id="35" name="Rectangle 34"/>
          <p:cNvSpPr/>
          <p:nvPr/>
        </p:nvSpPr>
        <p:spPr>
          <a:xfrm>
            <a:off x="4736592" y="3218688"/>
            <a:ext cx="1691640" cy="594360"/>
          </a:xfrm>
          <a:prstGeom prst="rect">
            <a:avLst/>
          </a:prstGeom>
          <a:solidFill>
            <a:srgbClr val="FBFBFB"/>
          </a:solidFill>
          <a:ln w="6350">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28032" y="3282188"/>
            <a:ext cx="1554480" cy="256032"/>
          </a:xfrm>
          <a:prstGeom prst="rect">
            <a:avLst/>
          </a:prstGeom>
          <a:noFill/>
        </p:spPr>
        <p:txBody>
          <a:bodyPr wrap="square">
            <a:spAutoFit/>
          </a:bodyPr>
          <a:lstStyle/>
          <a:p>
            <a:pPr algn="l"/>
            <a:r>
              <a:rPr sz="1000" b="1" i="0">
                <a:solidFill>
                  <a:srgbClr val="0F1F1B"/>
                </a:solidFill>
                <a:latin typeface="Calibri"/>
              </a:rPr>
              <a:t>Calendly</a:t>
            </a:r>
          </a:p>
        </p:txBody>
      </p:sp>
      <p:sp>
        <p:nvSpPr>
          <p:cNvPr id="37" name="TextBox 36"/>
          <p:cNvSpPr txBox="1"/>
          <p:nvPr/>
        </p:nvSpPr>
        <p:spPr>
          <a:xfrm>
            <a:off x="4828032" y="3520440"/>
            <a:ext cx="1554480" cy="228600"/>
          </a:xfrm>
          <a:prstGeom prst="rect">
            <a:avLst/>
          </a:prstGeom>
          <a:noFill/>
        </p:spPr>
        <p:txBody>
          <a:bodyPr wrap="square">
            <a:spAutoFit/>
          </a:bodyPr>
          <a:lstStyle/>
          <a:p>
            <a:pPr algn="l"/>
            <a:r>
              <a:rPr sz="800" b="0" i="0">
                <a:solidFill>
                  <a:srgbClr val="5E6A66"/>
                </a:solidFill>
                <a:latin typeface="Calibri"/>
              </a:rPr>
              <a:t>1 action</a:t>
            </a:r>
          </a:p>
        </p:txBody>
      </p:sp>
      <p:sp>
        <p:nvSpPr>
          <p:cNvPr id="38" name="Rectangle 37"/>
          <p:cNvSpPr/>
          <p:nvPr/>
        </p:nvSpPr>
        <p:spPr>
          <a:xfrm>
            <a:off x="2971800" y="3877056"/>
            <a:ext cx="3474720" cy="594360"/>
          </a:xfrm>
          <a:prstGeom prst="rect">
            <a:avLst/>
          </a:prstGeom>
          <a:solidFill>
            <a:srgbClr val="FBFBFB"/>
          </a:solidFill>
          <a:ln w="6350">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063240" y="3940556"/>
            <a:ext cx="3337560" cy="256032"/>
          </a:xfrm>
          <a:prstGeom prst="rect">
            <a:avLst/>
          </a:prstGeom>
          <a:noFill/>
        </p:spPr>
        <p:txBody>
          <a:bodyPr wrap="square">
            <a:spAutoFit/>
          </a:bodyPr>
          <a:lstStyle/>
          <a:p>
            <a:pPr algn="l"/>
            <a:r>
              <a:rPr sz="1000" b="1" i="0">
                <a:solidFill>
                  <a:srgbClr val="0F1F1B"/>
                </a:solidFill>
                <a:latin typeface="Calibri"/>
              </a:rPr>
              <a:t>HTTP</a:t>
            </a:r>
          </a:p>
        </p:txBody>
      </p:sp>
      <p:sp>
        <p:nvSpPr>
          <p:cNvPr id="40" name="TextBox 39"/>
          <p:cNvSpPr txBox="1"/>
          <p:nvPr/>
        </p:nvSpPr>
        <p:spPr>
          <a:xfrm>
            <a:off x="3063240" y="4178808"/>
            <a:ext cx="3337560" cy="228600"/>
          </a:xfrm>
          <a:prstGeom prst="rect">
            <a:avLst/>
          </a:prstGeom>
          <a:noFill/>
        </p:spPr>
        <p:txBody>
          <a:bodyPr wrap="square">
            <a:spAutoFit/>
          </a:bodyPr>
          <a:lstStyle/>
          <a:p>
            <a:pPr algn="l"/>
            <a:r>
              <a:rPr sz="800" b="0" i="0">
                <a:solidFill>
                  <a:srgbClr val="5E6A66"/>
                </a:solidFill>
                <a:latin typeface="Calibri"/>
              </a:rPr>
              <a:t>1 action · call any endpoint</a:t>
            </a:r>
          </a:p>
        </p:txBody>
      </p:sp>
      <p:sp>
        <p:nvSpPr>
          <p:cNvPr id="41" name="Rectangle 40"/>
          <p:cNvSpPr/>
          <p:nvPr/>
        </p:nvSpPr>
        <p:spPr>
          <a:xfrm>
            <a:off x="6611112" y="1645920"/>
            <a:ext cx="9525" cy="3200400"/>
          </a:xfrm>
          <a:prstGeom prst="rect">
            <a:avLst/>
          </a:prstGeom>
          <a:solidFill>
            <a:srgbClr val="D6DD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720840" y="1645920"/>
            <a:ext cx="2286000" cy="228600"/>
          </a:xfrm>
          <a:prstGeom prst="rect">
            <a:avLst/>
          </a:prstGeom>
          <a:noFill/>
        </p:spPr>
        <p:txBody>
          <a:bodyPr wrap="square">
            <a:spAutoFit/>
          </a:bodyPr>
          <a:lstStyle/>
          <a:p>
            <a:pPr algn="l"/>
            <a:r>
              <a:rPr sz="750" b="1" i="0">
                <a:solidFill>
                  <a:srgbClr val="5E6A66"/>
                </a:solidFill>
                <a:latin typeface="Calibri"/>
              </a:rPr>
              <a:t>AI INSIDE THE AGENT</a:t>
            </a:r>
          </a:p>
        </p:txBody>
      </p:sp>
      <p:sp>
        <p:nvSpPr>
          <p:cNvPr id="43" name="Rectangle 42"/>
          <p:cNvSpPr/>
          <p:nvPr/>
        </p:nvSpPr>
        <p:spPr>
          <a:xfrm>
            <a:off x="6720840" y="1901952"/>
            <a:ext cx="2286000" cy="1097280"/>
          </a:xfrm>
          <a:prstGeom prst="rect">
            <a:avLst/>
          </a:prstGeom>
          <a:solidFill>
            <a:srgbClr val="FBFBFB"/>
          </a:solidFill>
          <a:ln w="9525">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830568" y="1975104"/>
            <a:ext cx="2103120" cy="256032"/>
          </a:xfrm>
          <a:prstGeom prst="rect">
            <a:avLst/>
          </a:prstGeom>
          <a:noFill/>
        </p:spPr>
        <p:txBody>
          <a:bodyPr wrap="square">
            <a:spAutoFit/>
          </a:bodyPr>
          <a:lstStyle/>
          <a:p>
            <a:pPr algn="l"/>
            <a:r>
              <a:rPr sz="1100" b="1" i="0">
                <a:solidFill>
                  <a:srgbClr val="0F1F1B"/>
                </a:solidFill>
                <a:latin typeface="Calibri"/>
              </a:rPr>
              <a:t>Google Gemini</a:t>
            </a:r>
          </a:p>
        </p:txBody>
      </p:sp>
      <p:sp>
        <p:nvSpPr>
          <p:cNvPr id="45" name="TextBox 44"/>
          <p:cNvSpPr txBox="1"/>
          <p:nvPr/>
        </p:nvSpPr>
        <p:spPr>
          <a:xfrm>
            <a:off x="6830568" y="2249424"/>
            <a:ext cx="2103120" cy="685800"/>
          </a:xfrm>
          <a:prstGeom prst="rect">
            <a:avLst/>
          </a:prstGeom>
          <a:noFill/>
        </p:spPr>
        <p:txBody>
          <a:bodyPr wrap="square">
            <a:spAutoFit/>
          </a:bodyPr>
          <a:lstStyle/>
          <a:p>
            <a:pPr algn="l"/>
            <a:r>
              <a:rPr sz="900" b="0" i="0">
                <a:solidFill>
                  <a:srgbClr val="44524C"/>
                </a:solidFill>
                <a:latin typeface="Calibri"/>
              </a:rPr>
              <a:t>6 actions. Add an AI decision step inside any agent: classify an order, draft a reply, score a risk.</a:t>
            </a:r>
          </a:p>
        </p:txBody>
      </p:sp>
      <p:sp>
        <p:nvSpPr>
          <p:cNvPr id="46" name="Rectangle 45"/>
          <p:cNvSpPr/>
          <p:nvPr/>
        </p:nvSpPr>
        <p:spPr>
          <a:xfrm>
            <a:off x="6720840" y="3108960"/>
            <a:ext cx="2286000" cy="1097280"/>
          </a:xfrm>
          <a:prstGeom prst="rect">
            <a:avLst/>
          </a:prstGeom>
          <a:solidFill>
            <a:srgbClr val="FBFBFB"/>
          </a:solidFill>
          <a:ln w="9525">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830568" y="3182112"/>
            <a:ext cx="2103120" cy="256032"/>
          </a:xfrm>
          <a:prstGeom prst="rect">
            <a:avLst/>
          </a:prstGeom>
          <a:noFill/>
        </p:spPr>
        <p:txBody>
          <a:bodyPr wrap="square">
            <a:spAutoFit/>
          </a:bodyPr>
          <a:lstStyle/>
          <a:p>
            <a:pPr algn="l"/>
            <a:r>
              <a:rPr sz="1100" b="1" i="0">
                <a:solidFill>
                  <a:srgbClr val="0F1F1B"/>
                </a:solidFill>
                <a:latin typeface="Calibri"/>
              </a:rPr>
              <a:t>OpenAI</a:t>
            </a:r>
          </a:p>
        </p:txBody>
      </p:sp>
      <p:sp>
        <p:nvSpPr>
          <p:cNvPr id="48" name="TextBox 47"/>
          <p:cNvSpPr txBox="1"/>
          <p:nvPr/>
        </p:nvSpPr>
        <p:spPr>
          <a:xfrm>
            <a:off x="6830568" y="3456432"/>
            <a:ext cx="2103120" cy="685800"/>
          </a:xfrm>
          <a:prstGeom prst="rect">
            <a:avLst/>
          </a:prstGeom>
          <a:noFill/>
        </p:spPr>
        <p:txBody>
          <a:bodyPr wrap="square">
            <a:spAutoFit/>
          </a:bodyPr>
          <a:lstStyle/>
          <a:p>
            <a:pPr algn="l"/>
            <a:r>
              <a:rPr sz="900" b="0" i="0">
                <a:solidFill>
                  <a:srgbClr val="44524C"/>
                </a:solidFill>
                <a:latin typeface="Calibri"/>
              </a:rPr>
              <a:t>9 actions. Use GPT models for reasoning, summarisation, or classification steps inside your agent.</a:t>
            </a:r>
          </a:p>
        </p:txBody>
      </p:sp>
      <p:sp>
        <p:nvSpPr>
          <p:cNvPr id="49" name="Rectangle 48"/>
          <p:cNvSpPr/>
          <p:nvPr/>
        </p:nvSpPr>
        <p:spPr>
          <a:xfrm>
            <a:off x="6720840" y="4315968"/>
            <a:ext cx="2286000" cy="411480"/>
          </a:xfrm>
          <a:prstGeom prst="rect">
            <a:avLst/>
          </a:prstGeom>
          <a:solidFill>
            <a:srgbClr val="0F1F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12280" y="4389120"/>
            <a:ext cx="2148840" cy="320040"/>
          </a:xfrm>
          <a:prstGeom prst="rect">
            <a:avLst/>
          </a:prstGeom>
          <a:noFill/>
        </p:spPr>
        <p:txBody>
          <a:bodyPr wrap="square">
            <a:spAutoFit/>
          </a:bodyPr>
          <a:lstStyle/>
          <a:p>
            <a:pPr algn="l"/>
            <a:r>
              <a:rPr sz="900" b="0" i="0">
                <a:solidFill>
                  <a:srgbClr val="2DCCA0"/>
                </a:solidFill>
                <a:latin typeface="Calibri"/>
              </a:rPr>
              <a:t>AI is a step inside your agent. Not a separate subscription.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BFB"/>
        </a:solidFill>
        <a:effectLst/>
      </p:bgPr>
    </p:bg>
    <p:spTree>
      <p:nvGrpSpPr>
        <p:cNvPr id="1" name=""/>
        <p:cNvGrpSpPr/>
        <p:nvPr/>
      </p:nvGrpSpPr>
      <p:grpSpPr/>
      <p:sp>
        <p:nvSpPr>
          <p:cNvPr id="2" name="Rectangle 1"/>
          <p:cNvSpPr/>
          <p:nvPr/>
        </p:nvSpPr>
        <p:spPr>
          <a:xfrm>
            <a:off x="256032" y="137160"/>
            <a:ext cx="68580" cy="68580"/>
          </a:xfrm>
          <a:prstGeom prst="rect">
            <a:avLst/>
          </a:prstGeom>
          <a:solidFill>
            <a:srgbClr val="00B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2286000" cy="256032"/>
          </a:xfrm>
          <a:prstGeom prst="rect">
            <a:avLst/>
          </a:prstGeom>
          <a:noFill/>
        </p:spPr>
        <p:txBody>
          <a:bodyPr wrap="square">
            <a:spAutoFit/>
          </a:bodyPr>
          <a:lstStyle/>
          <a:p>
            <a:pPr algn="l"/>
            <a:r>
              <a:rPr sz="750" b="1" i="0">
                <a:solidFill>
                  <a:srgbClr val="5E6A66"/>
                </a:solidFill>
                <a:latin typeface="Calibri"/>
              </a:rPr>
              <a:t>Cashfree · Relay</a:t>
            </a:r>
          </a:p>
        </p:txBody>
      </p:sp>
      <p:sp>
        <p:nvSpPr>
          <p:cNvPr id="4" name="TextBox 3"/>
          <p:cNvSpPr txBox="1"/>
          <p:nvPr/>
        </p:nvSpPr>
        <p:spPr>
          <a:xfrm>
            <a:off x="8686800" y="4850892"/>
            <a:ext cx="457200" cy="228600"/>
          </a:xfrm>
          <a:prstGeom prst="rect">
            <a:avLst/>
          </a:prstGeom>
          <a:noFill/>
        </p:spPr>
        <p:txBody>
          <a:bodyPr wrap="square">
            <a:spAutoFit/>
          </a:bodyPr>
          <a:lstStyle/>
          <a:p>
            <a:pPr algn="r"/>
            <a:r>
              <a:rPr sz="800" b="1" i="0">
                <a:solidFill>
                  <a:srgbClr val="0F1F1B"/>
                </a:solidFill>
                <a:latin typeface="Calibri"/>
              </a:rPr>
              <a:t>07 / 10</a:t>
            </a:r>
          </a:p>
        </p:txBody>
      </p:sp>
      <p:sp>
        <p:nvSpPr>
          <p:cNvPr id="5" name="Rectangle 4"/>
          <p:cNvSpPr/>
          <p:nvPr/>
        </p:nvSpPr>
        <p:spPr>
          <a:xfrm>
            <a:off x="256032" y="329184"/>
            <a:ext cx="8631936" cy="6350"/>
          </a:xfrm>
          <a:prstGeom prst="rect">
            <a:avLst/>
          </a:prstGeom>
          <a:solidFill>
            <a:srgbClr val="D6DD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520700"/>
            <a:ext cx="182880" cy="9525"/>
          </a:xfrm>
          <a:prstGeom prst="rect">
            <a:avLst/>
          </a:prstGeom>
          <a:solidFill>
            <a:srgbClr val="00B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457200"/>
            <a:ext cx="5486400" cy="201168"/>
          </a:xfrm>
          <a:prstGeom prst="rect">
            <a:avLst/>
          </a:prstGeom>
          <a:noFill/>
        </p:spPr>
        <p:txBody>
          <a:bodyPr wrap="square">
            <a:spAutoFit/>
          </a:bodyPr>
          <a:lstStyle/>
          <a:p>
            <a:pPr algn="l"/>
            <a:r>
              <a:rPr sz="750" b="1" i="0">
                <a:solidFill>
                  <a:srgbClr val="5E6A66"/>
                </a:solidFill>
                <a:latin typeface="Calibri"/>
              </a:rPr>
              <a:t>PICK THE ONE THAT HURTS MOST RIGHT NOW</a:t>
            </a:r>
          </a:p>
        </p:txBody>
      </p:sp>
      <p:sp>
        <p:nvSpPr>
          <p:cNvPr id="8" name="TextBox 7"/>
          <p:cNvSpPr txBox="1"/>
          <p:nvPr/>
        </p:nvSpPr>
        <p:spPr>
          <a:xfrm>
            <a:off x="502920" y="749808"/>
            <a:ext cx="8229600" cy="457200"/>
          </a:xfrm>
          <a:prstGeom prst="rect">
            <a:avLst/>
          </a:prstGeom>
          <a:noFill/>
        </p:spPr>
        <p:txBody>
          <a:bodyPr wrap="none">
            <a:spAutoFit/>
          </a:bodyPr>
          <a:lstStyle/>
          <a:p>
            <a:r>
              <a:rPr sz="2000">
                <a:solidFill>
                  <a:srgbClr val="0F1F1B"/>
                </a:solidFill>
                <a:latin typeface="Calibri"/>
              </a:rPr>
              <a:t>Five things you do manually today. </a:t>
            </a:r>
            <a:r>
              <a:rPr sz="2000" b="1">
                <a:solidFill>
                  <a:srgbClr val="0F1F1B"/>
                </a:solidFill>
                <a:latin typeface="Calibri"/>
              </a:rPr>
              <a:t>Five AI agents that do them instead.</a:t>
            </a:r>
          </a:p>
        </p:txBody>
      </p:sp>
      <p:sp>
        <p:nvSpPr>
          <p:cNvPr id="9" name="Rectangle 8"/>
          <p:cNvSpPr/>
          <p:nvPr/>
        </p:nvSpPr>
        <p:spPr>
          <a:xfrm>
            <a:off x="411480" y="1325880"/>
            <a:ext cx="1572768" cy="292608"/>
          </a:xfrm>
          <a:prstGeom prst="rect">
            <a:avLst/>
          </a:prstGeom>
          <a:solidFill>
            <a:srgbClr val="E8F8F3"/>
          </a:solidFill>
          <a:ln w="15240">
            <a:solidFill>
              <a:srgbClr val="00B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389380"/>
            <a:ext cx="865022" cy="228600"/>
          </a:xfrm>
          <a:prstGeom prst="rect">
            <a:avLst/>
          </a:prstGeom>
          <a:noFill/>
        </p:spPr>
        <p:txBody>
          <a:bodyPr wrap="square">
            <a:spAutoFit/>
          </a:bodyPr>
          <a:lstStyle/>
          <a:p>
            <a:pPr algn="l"/>
            <a:r>
              <a:rPr sz="800" b="1" i="0">
                <a:solidFill>
                  <a:srgbClr val="00B488"/>
                </a:solidFill>
                <a:latin typeface="Calibri"/>
              </a:rPr>
              <a:t>COD</a:t>
            </a:r>
          </a:p>
        </p:txBody>
      </p:sp>
      <p:sp>
        <p:nvSpPr>
          <p:cNvPr id="11" name="TextBox 10"/>
          <p:cNvSpPr txBox="1"/>
          <p:nvPr/>
        </p:nvSpPr>
        <p:spPr>
          <a:xfrm>
            <a:off x="1276502" y="1414780"/>
            <a:ext cx="662025" cy="201168"/>
          </a:xfrm>
          <a:prstGeom prst="rect">
            <a:avLst/>
          </a:prstGeom>
          <a:noFill/>
        </p:spPr>
        <p:txBody>
          <a:bodyPr wrap="square">
            <a:spAutoFit/>
          </a:bodyPr>
          <a:lstStyle/>
          <a:p>
            <a:pPr algn="r"/>
            <a:r>
              <a:rPr sz="700" b="1" i="0">
                <a:solidFill>
                  <a:srgbClr val="007A55"/>
                </a:solidFill>
                <a:latin typeface="Calibri"/>
              </a:rPr>
              <a:t>Most activated</a:t>
            </a:r>
          </a:p>
        </p:txBody>
      </p:sp>
      <p:sp>
        <p:nvSpPr>
          <p:cNvPr id="12" name="Rectangle 11"/>
          <p:cNvSpPr/>
          <p:nvPr/>
        </p:nvSpPr>
        <p:spPr>
          <a:xfrm>
            <a:off x="411480" y="1618488"/>
            <a:ext cx="1572768" cy="2633472"/>
          </a:xfrm>
          <a:prstGeom prst="rect">
            <a:avLst/>
          </a:prstGeom>
          <a:solidFill>
            <a:srgbClr val="FBFBFB"/>
          </a:solidFill>
          <a:ln w="9525">
            <a:solidFill>
              <a:srgbClr val="00B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694688"/>
            <a:ext cx="1435608" cy="411480"/>
          </a:xfrm>
          <a:prstGeom prst="rect">
            <a:avLst/>
          </a:prstGeom>
          <a:noFill/>
        </p:spPr>
        <p:txBody>
          <a:bodyPr wrap="square">
            <a:spAutoFit/>
          </a:bodyPr>
          <a:lstStyle/>
          <a:p>
            <a:pPr algn="l"/>
            <a:r>
              <a:rPr sz="950" b="1" i="0">
                <a:solidFill>
                  <a:srgbClr val="0F1F1B"/>
                </a:solidFill>
                <a:latin typeface="Calibri"/>
              </a:rPr>
              <a:t>COD Confirmation AI Agent</a:t>
            </a:r>
          </a:p>
        </p:txBody>
      </p:sp>
      <p:sp>
        <p:nvSpPr>
          <p:cNvPr id="14" name="TextBox 13"/>
          <p:cNvSpPr txBox="1"/>
          <p:nvPr/>
        </p:nvSpPr>
        <p:spPr>
          <a:xfrm>
            <a:off x="502920" y="2093976"/>
            <a:ext cx="1435608" cy="2103120"/>
          </a:xfrm>
          <a:prstGeom prst="rect">
            <a:avLst/>
          </a:prstGeom>
          <a:noFill/>
        </p:spPr>
        <p:txBody>
          <a:bodyPr wrap="square">
            <a:spAutoFit/>
          </a:bodyPr>
          <a:lstStyle/>
          <a:p>
            <a:pPr algn="l"/>
            <a:r>
              <a:rPr sz="850" b="0" i="0">
                <a:solidFill>
                  <a:srgbClr val="44524C"/>
                </a:solidFill>
                <a:latin typeface="Calibri"/>
              </a:rPr>
              <a:t>Every COD order confirmed within 5 minutes. No reply in 4 hours? A nudge goes out. Still nothing? Ops is flagged before dispatch. Runs at 2am. Runs on Sunday. You don't send a single message.</a:t>
            </a:r>
          </a:p>
        </p:txBody>
      </p:sp>
      <p:sp>
        <p:nvSpPr>
          <p:cNvPr id="15" name="Rectangle 14"/>
          <p:cNvSpPr/>
          <p:nvPr/>
        </p:nvSpPr>
        <p:spPr>
          <a:xfrm>
            <a:off x="411480" y="4251960"/>
            <a:ext cx="1572768" cy="594360"/>
          </a:xfrm>
          <a:prstGeom prst="rect">
            <a:avLst/>
          </a:prstGeom>
          <a:solidFill>
            <a:srgbClr val="FBFBFB"/>
          </a:solidFill>
          <a:ln w="9525">
            <a:solidFill>
              <a:srgbClr val="00B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11480" y="4251960"/>
            <a:ext cx="1572768" cy="9525"/>
          </a:xfrm>
          <a:prstGeom prst="rect">
            <a:avLst/>
          </a:prstGeom>
          <a:solidFill>
            <a:srgbClr val="00B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4315460"/>
            <a:ext cx="1435608" cy="274320"/>
          </a:xfrm>
          <a:prstGeom prst="rect">
            <a:avLst/>
          </a:prstGeom>
          <a:noFill/>
        </p:spPr>
        <p:txBody>
          <a:bodyPr wrap="square">
            <a:spAutoFit/>
          </a:bodyPr>
          <a:lstStyle/>
          <a:p>
            <a:pPr algn="l"/>
            <a:r>
              <a:rPr sz="900" b="1" i="0">
                <a:solidFill>
                  <a:srgbClr val="007A55"/>
                </a:solidFill>
                <a:latin typeface="Calibri"/>
              </a:rPr>
              <a:t>RTO: 28–32% → 16–20%</a:t>
            </a:r>
          </a:p>
        </p:txBody>
      </p:sp>
      <p:sp>
        <p:nvSpPr>
          <p:cNvPr id="18" name="TextBox 17"/>
          <p:cNvSpPr txBox="1"/>
          <p:nvPr/>
        </p:nvSpPr>
        <p:spPr>
          <a:xfrm>
            <a:off x="502920" y="4544568"/>
            <a:ext cx="1435608" cy="256032"/>
          </a:xfrm>
          <a:prstGeom prst="rect">
            <a:avLst/>
          </a:prstGeom>
          <a:noFill/>
        </p:spPr>
        <p:txBody>
          <a:bodyPr wrap="square">
            <a:spAutoFit/>
          </a:bodyPr>
          <a:lstStyle/>
          <a:p>
            <a:pPr algn="l"/>
            <a:r>
              <a:rPr sz="750" b="0" i="0">
                <a:solidFill>
                  <a:srgbClr val="5E6A66"/>
                </a:solidFill>
                <a:latin typeface="Calibri"/>
              </a:rPr>
              <a:t>Within 30 days · CampaignHQ 2026</a:t>
            </a:r>
          </a:p>
        </p:txBody>
      </p:sp>
      <p:sp>
        <p:nvSpPr>
          <p:cNvPr id="19" name="Rectangle 18"/>
          <p:cNvSpPr/>
          <p:nvPr/>
        </p:nvSpPr>
        <p:spPr>
          <a:xfrm>
            <a:off x="2075688" y="1325880"/>
            <a:ext cx="1572768" cy="292608"/>
          </a:xfrm>
          <a:prstGeom prst="rect">
            <a:avLst/>
          </a:prstGeom>
          <a:solidFill>
            <a:srgbClr val="EDEFEE"/>
          </a:solidFill>
          <a:ln w="15240">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167128" y="1389380"/>
            <a:ext cx="865022" cy="228600"/>
          </a:xfrm>
          <a:prstGeom prst="rect">
            <a:avLst/>
          </a:prstGeom>
          <a:noFill/>
        </p:spPr>
        <p:txBody>
          <a:bodyPr wrap="square">
            <a:spAutoFit/>
          </a:bodyPr>
          <a:lstStyle/>
          <a:p>
            <a:pPr algn="l"/>
            <a:r>
              <a:rPr sz="800" b="1" i="0">
                <a:solidFill>
                  <a:srgbClr val="0F1F1B"/>
                </a:solidFill>
                <a:latin typeface="Calibri"/>
              </a:rPr>
              <a:t>RECOVERY</a:t>
            </a:r>
          </a:p>
        </p:txBody>
      </p:sp>
      <p:sp>
        <p:nvSpPr>
          <p:cNvPr id="21" name="Rectangle 20"/>
          <p:cNvSpPr/>
          <p:nvPr/>
        </p:nvSpPr>
        <p:spPr>
          <a:xfrm>
            <a:off x="2075688" y="1618488"/>
            <a:ext cx="1572768" cy="2633472"/>
          </a:xfrm>
          <a:prstGeom prst="rect">
            <a:avLst/>
          </a:prstGeom>
          <a:solidFill>
            <a:srgbClr val="FBFBFB"/>
          </a:solidFill>
          <a:ln w="9525">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167128" y="1694688"/>
            <a:ext cx="1435608" cy="411480"/>
          </a:xfrm>
          <a:prstGeom prst="rect">
            <a:avLst/>
          </a:prstGeom>
          <a:noFill/>
        </p:spPr>
        <p:txBody>
          <a:bodyPr wrap="square">
            <a:spAutoFit/>
          </a:bodyPr>
          <a:lstStyle/>
          <a:p>
            <a:pPr algn="l"/>
            <a:r>
              <a:rPr sz="950" b="1" i="0">
                <a:solidFill>
                  <a:srgbClr val="0F1F1B"/>
                </a:solidFill>
                <a:latin typeface="Calibri"/>
              </a:rPr>
              <a:t>Failed Payment Recovery</a:t>
            </a:r>
          </a:p>
        </p:txBody>
      </p:sp>
      <p:sp>
        <p:nvSpPr>
          <p:cNvPr id="23" name="TextBox 22"/>
          <p:cNvSpPr txBox="1"/>
          <p:nvPr/>
        </p:nvSpPr>
        <p:spPr>
          <a:xfrm>
            <a:off x="2167128" y="2093976"/>
            <a:ext cx="1435608" cy="2103120"/>
          </a:xfrm>
          <a:prstGeom prst="rect">
            <a:avLst/>
          </a:prstGeom>
          <a:noFill/>
        </p:spPr>
        <p:txBody>
          <a:bodyPr wrap="square">
            <a:spAutoFit/>
          </a:bodyPr>
          <a:lstStyle/>
          <a:p>
            <a:pPr algn="l"/>
            <a:r>
              <a:rPr sz="850" b="0" i="0">
                <a:solidFill>
                  <a:srgbClr val="44524C"/>
                </a:solidFill>
                <a:latin typeface="Calibri"/>
              </a:rPr>
              <a:t>WhatsApp within 15 minutes. Gmail backup at 2 hours. Slack alert to ops at end of day if still unpaid. Covers one-time payments, COD, payment links, checkout drops.</a:t>
            </a:r>
          </a:p>
        </p:txBody>
      </p:sp>
      <p:sp>
        <p:nvSpPr>
          <p:cNvPr id="24" name="Rectangle 23"/>
          <p:cNvSpPr/>
          <p:nvPr/>
        </p:nvSpPr>
        <p:spPr>
          <a:xfrm>
            <a:off x="2075688" y="4251960"/>
            <a:ext cx="1572768" cy="594360"/>
          </a:xfrm>
          <a:prstGeom prst="rect">
            <a:avLst/>
          </a:prstGeom>
          <a:solidFill>
            <a:srgbClr val="FBFBFB"/>
          </a:solidFill>
          <a:ln w="9525">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075688" y="4251960"/>
            <a:ext cx="1572768" cy="9525"/>
          </a:xfrm>
          <a:prstGeom prst="rect">
            <a:avLst/>
          </a:prstGeom>
          <a:solidFill>
            <a:srgbClr val="D6DD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167128" y="4315460"/>
            <a:ext cx="1435608" cy="274320"/>
          </a:xfrm>
          <a:prstGeom prst="rect">
            <a:avLst/>
          </a:prstGeom>
          <a:noFill/>
        </p:spPr>
        <p:txBody>
          <a:bodyPr wrap="square">
            <a:spAutoFit/>
          </a:bodyPr>
          <a:lstStyle/>
          <a:p>
            <a:pPr algn="l"/>
            <a:r>
              <a:rPr sz="900" b="1" i="0">
                <a:solidFill>
                  <a:srgbClr val="007A55"/>
                </a:solidFill>
                <a:latin typeface="Calibri"/>
              </a:rPr>
              <a:t>3–8% of drops recovered</a:t>
            </a:r>
          </a:p>
        </p:txBody>
      </p:sp>
      <p:sp>
        <p:nvSpPr>
          <p:cNvPr id="27" name="TextBox 26"/>
          <p:cNvSpPr txBox="1"/>
          <p:nvPr/>
        </p:nvSpPr>
        <p:spPr>
          <a:xfrm>
            <a:off x="2167128" y="4544568"/>
            <a:ext cx="1435608" cy="256032"/>
          </a:xfrm>
          <a:prstGeom prst="rect">
            <a:avLst/>
          </a:prstGeom>
          <a:noFill/>
        </p:spPr>
        <p:txBody>
          <a:bodyPr wrap="square">
            <a:spAutoFit/>
          </a:bodyPr>
          <a:lstStyle/>
          <a:p>
            <a:pPr algn="l"/>
            <a:r>
              <a:rPr sz="750" b="0" i="0">
                <a:solidFill>
                  <a:srgbClr val="5E6A66"/>
                </a:solidFill>
                <a:latin typeface="Calibri"/>
              </a:rPr>
              <a:t>Early Beta merchants · no ops involvement</a:t>
            </a:r>
          </a:p>
        </p:txBody>
      </p:sp>
      <p:sp>
        <p:nvSpPr>
          <p:cNvPr id="28" name="Rectangle 27"/>
          <p:cNvSpPr/>
          <p:nvPr/>
        </p:nvSpPr>
        <p:spPr>
          <a:xfrm>
            <a:off x="3739896" y="1325880"/>
            <a:ext cx="1572768" cy="292608"/>
          </a:xfrm>
          <a:prstGeom prst="rect">
            <a:avLst/>
          </a:prstGeom>
          <a:solidFill>
            <a:srgbClr val="EDEFEE"/>
          </a:solidFill>
          <a:ln w="15240">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31336" y="1389380"/>
            <a:ext cx="865022" cy="228600"/>
          </a:xfrm>
          <a:prstGeom prst="rect">
            <a:avLst/>
          </a:prstGeom>
          <a:noFill/>
        </p:spPr>
        <p:txBody>
          <a:bodyPr wrap="square">
            <a:spAutoFit/>
          </a:bodyPr>
          <a:lstStyle/>
          <a:p>
            <a:pPr algn="l"/>
            <a:r>
              <a:rPr sz="800" b="1" i="0">
                <a:solidFill>
                  <a:srgbClr val="0F1F1B"/>
                </a:solidFill>
                <a:latin typeface="Calibri"/>
              </a:rPr>
              <a:t>CART</a:t>
            </a:r>
          </a:p>
        </p:txBody>
      </p:sp>
      <p:sp>
        <p:nvSpPr>
          <p:cNvPr id="30" name="Rectangle 29"/>
          <p:cNvSpPr/>
          <p:nvPr/>
        </p:nvSpPr>
        <p:spPr>
          <a:xfrm>
            <a:off x="3739896" y="1618488"/>
            <a:ext cx="1572768" cy="2633472"/>
          </a:xfrm>
          <a:prstGeom prst="rect">
            <a:avLst/>
          </a:prstGeom>
          <a:solidFill>
            <a:srgbClr val="FBFBFB"/>
          </a:solidFill>
          <a:ln w="9525">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831336" y="1694688"/>
            <a:ext cx="1435608" cy="411480"/>
          </a:xfrm>
          <a:prstGeom prst="rect">
            <a:avLst/>
          </a:prstGeom>
          <a:noFill/>
        </p:spPr>
        <p:txBody>
          <a:bodyPr wrap="square">
            <a:spAutoFit/>
          </a:bodyPr>
          <a:lstStyle/>
          <a:p>
            <a:pPr algn="l"/>
            <a:r>
              <a:rPr sz="950" b="1" i="0">
                <a:solidFill>
                  <a:srgbClr val="0F1F1B"/>
                </a:solidFill>
                <a:latin typeface="Calibri"/>
              </a:rPr>
              <a:t>Abandoned Cart Recovery</a:t>
            </a:r>
          </a:p>
        </p:txBody>
      </p:sp>
      <p:sp>
        <p:nvSpPr>
          <p:cNvPr id="32" name="TextBox 31"/>
          <p:cNvSpPr txBox="1"/>
          <p:nvPr/>
        </p:nvSpPr>
        <p:spPr>
          <a:xfrm>
            <a:off x="3831336" y="2093976"/>
            <a:ext cx="1435608" cy="2103120"/>
          </a:xfrm>
          <a:prstGeom prst="rect">
            <a:avLst/>
          </a:prstGeom>
          <a:noFill/>
        </p:spPr>
        <p:txBody>
          <a:bodyPr wrap="square">
            <a:spAutoFit/>
          </a:bodyPr>
          <a:lstStyle/>
          <a:p>
            <a:pPr algn="l"/>
            <a:r>
              <a:rPr sz="850" b="0" i="0">
                <a:solidFill>
                  <a:srgbClr val="44524C"/>
                </a:solidFill>
                <a:latin typeface="Calibri"/>
              </a:rPr>
              <a:t>Customer drops at checkout. WhatsApp within 10 minutes. No reply at 2 hours. Follow-up with an offer goes out. Triggered from the payment drop event, not browsing.</a:t>
            </a:r>
          </a:p>
        </p:txBody>
      </p:sp>
      <p:sp>
        <p:nvSpPr>
          <p:cNvPr id="33" name="Rectangle 32"/>
          <p:cNvSpPr/>
          <p:nvPr/>
        </p:nvSpPr>
        <p:spPr>
          <a:xfrm>
            <a:off x="3739896" y="4251960"/>
            <a:ext cx="1572768" cy="594360"/>
          </a:xfrm>
          <a:prstGeom prst="rect">
            <a:avLst/>
          </a:prstGeom>
          <a:solidFill>
            <a:srgbClr val="FBFBFB"/>
          </a:solidFill>
          <a:ln w="9525">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739896" y="4251960"/>
            <a:ext cx="1572768" cy="9525"/>
          </a:xfrm>
          <a:prstGeom prst="rect">
            <a:avLst/>
          </a:prstGeom>
          <a:solidFill>
            <a:srgbClr val="D6DD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831336" y="4315460"/>
            <a:ext cx="1435608" cy="274320"/>
          </a:xfrm>
          <a:prstGeom prst="rect">
            <a:avLst/>
          </a:prstGeom>
          <a:noFill/>
        </p:spPr>
        <p:txBody>
          <a:bodyPr wrap="square">
            <a:spAutoFit/>
          </a:bodyPr>
          <a:lstStyle/>
          <a:p>
            <a:pPr algn="l"/>
            <a:r>
              <a:rPr sz="900" b="1" i="0">
                <a:solidFill>
                  <a:srgbClr val="007A55"/>
                </a:solidFill>
                <a:latin typeface="Calibri"/>
              </a:rPr>
              <a:t>Timed to highest intent</a:t>
            </a:r>
          </a:p>
        </p:txBody>
      </p:sp>
      <p:sp>
        <p:nvSpPr>
          <p:cNvPr id="36" name="TextBox 35"/>
          <p:cNvSpPr txBox="1"/>
          <p:nvPr/>
        </p:nvSpPr>
        <p:spPr>
          <a:xfrm>
            <a:off x="3831336" y="4544568"/>
            <a:ext cx="1435608" cy="256032"/>
          </a:xfrm>
          <a:prstGeom prst="rect">
            <a:avLst/>
          </a:prstGeom>
          <a:noFill/>
        </p:spPr>
        <p:txBody>
          <a:bodyPr wrap="square">
            <a:spAutoFit/>
          </a:bodyPr>
          <a:lstStyle/>
          <a:p>
            <a:pPr algn="l"/>
            <a:r>
              <a:rPr sz="750" b="0" i="0">
                <a:solidFill>
                  <a:srgbClr val="5E6A66"/>
                </a:solidFill>
                <a:latin typeface="Calibri"/>
              </a:rPr>
              <a:t>Triggered at payment drop · not browsing</a:t>
            </a:r>
          </a:p>
        </p:txBody>
      </p:sp>
      <p:sp>
        <p:nvSpPr>
          <p:cNvPr id="37" name="Rectangle 36"/>
          <p:cNvSpPr/>
          <p:nvPr/>
        </p:nvSpPr>
        <p:spPr>
          <a:xfrm>
            <a:off x="5404104" y="1325880"/>
            <a:ext cx="1572768" cy="292608"/>
          </a:xfrm>
          <a:prstGeom prst="rect">
            <a:avLst/>
          </a:prstGeom>
          <a:solidFill>
            <a:srgbClr val="EDEFEE"/>
          </a:solidFill>
          <a:ln w="15240">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495544" y="1389380"/>
            <a:ext cx="865022" cy="228600"/>
          </a:xfrm>
          <a:prstGeom prst="rect">
            <a:avLst/>
          </a:prstGeom>
          <a:noFill/>
        </p:spPr>
        <p:txBody>
          <a:bodyPr wrap="square">
            <a:spAutoFit/>
          </a:bodyPr>
          <a:lstStyle/>
          <a:p>
            <a:pPr algn="l"/>
            <a:r>
              <a:rPr sz="800" b="1" i="0">
                <a:solidFill>
                  <a:srgbClr val="0F1F1B"/>
                </a:solidFill>
                <a:latin typeface="Calibri"/>
              </a:rPr>
              <a:t>RECON</a:t>
            </a:r>
          </a:p>
        </p:txBody>
      </p:sp>
      <p:sp>
        <p:nvSpPr>
          <p:cNvPr id="39" name="Rectangle 38"/>
          <p:cNvSpPr/>
          <p:nvPr/>
        </p:nvSpPr>
        <p:spPr>
          <a:xfrm>
            <a:off x="5404104" y="1618488"/>
            <a:ext cx="1572768" cy="2633472"/>
          </a:xfrm>
          <a:prstGeom prst="rect">
            <a:avLst/>
          </a:prstGeom>
          <a:solidFill>
            <a:srgbClr val="FBFBFB"/>
          </a:solidFill>
          <a:ln w="9525">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495544" y="1694688"/>
            <a:ext cx="1435608" cy="411480"/>
          </a:xfrm>
          <a:prstGeom prst="rect">
            <a:avLst/>
          </a:prstGeom>
          <a:noFill/>
        </p:spPr>
        <p:txBody>
          <a:bodyPr wrap="square">
            <a:spAutoFit/>
          </a:bodyPr>
          <a:lstStyle/>
          <a:p>
            <a:pPr algn="l"/>
            <a:r>
              <a:rPr sz="950" b="1" i="0">
                <a:solidFill>
                  <a:srgbClr val="0F1F1B"/>
                </a:solidFill>
                <a:latin typeface="Calibri"/>
              </a:rPr>
              <a:t>Settlement Recon AI Agent</a:t>
            </a:r>
          </a:p>
        </p:txBody>
      </p:sp>
      <p:sp>
        <p:nvSpPr>
          <p:cNvPr id="41" name="TextBox 40"/>
          <p:cNvSpPr txBox="1"/>
          <p:nvPr/>
        </p:nvSpPr>
        <p:spPr>
          <a:xfrm>
            <a:off x="5495544" y="2093976"/>
            <a:ext cx="1435608" cy="2103120"/>
          </a:xfrm>
          <a:prstGeom prst="rect">
            <a:avLst/>
          </a:prstGeom>
          <a:noFill/>
        </p:spPr>
        <p:txBody>
          <a:bodyPr wrap="square">
            <a:spAutoFit/>
          </a:bodyPr>
          <a:lstStyle/>
          <a:p>
            <a:pPr algn="l"/>
            <a:r>
              <a:rPr sz="850" b="0" i="0">
                <a:solidFill>
                  <a:srgbClr val="44524C"/>
                </a:solidFill>
                <a:latin typeface="Calibri"/>
              </a:rPr>
              <a:t>Runs daily, weekly, or after every settlement. Pulls every row, appends to Google Sheets, flags discrepancies, notifies finance. A live tab your finance team can act on.</a:t>
            </a:r>
          </a:p>
        </p:txBody>
      </p:sp>
      <p:sp>
        <p:nvSpPr>
          <p:cNvPr id="42" name="Rectangle 41"/>
          <p:cNvSpPr/>
          <p:nvPr/>
        </p:nvSpPr>
        <p:spPr>
          <a:xfrm>
            <a:off x="5404104" y="4251960"/>
            <a:ext cx="1572768" cy="594360"/>
          </a:xfrm>
          <a:prstGeom prst="rect">
            <a:avLst/>
          </a:prstGeom>
          <a:solidFill>
            <a:srgbClr val="FBFBFB"/>
          </a:solidFill>
          <a:ln w="9525">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404104" y="4251960"/>
            <a:ext cx="1572768" cy="9525"/>
          </a:xfrm>
          <a:prstGeom prst="rect">
            <a:avLst/>
          </a:prstGeom>
          <a:solidFill>
            <a:srgbClr val="D6DD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495544" y="4315460"/>
            <a:ext cx="1435608" cy="274320"/>
          </a:xfrm>
          <a:prstGeom prst="rect">
            <a:avLst/>
          </a:prstGeom>
          <a:noFill/>
        </p:spPr>
        <p:txBody>
          <a:bodyPr wrap="square">
            <a:spAutoFit/>
          </a:bodyPr>
          <a:lstStyle/>
          <a:p>
            <a:pPr algn="l"/>
            <a:r>
              <a:rPr sz="900" b="1" i="0">
                <a:solidFill>
                  <a:srgbClr val="007A55"/>
                </a:solidFill>
                <a:latin typeface="Calibri"/>
              </a:rPr>
              <a:t>40–160 hrs / month → 0</a:t>
            </a:r>
          </a:p>
        </p:txBody>
      </p:sp>
      <p:sp>
        <p:nvSpPr>
          <p:cNvPr id="45" name="TextBox 44"/>
          <p:cNvSpPr txBox="1"/>
          <p:nvPr/>
        </p:nvSpPr>
        <p:spPr>
          <a:xfrm>
            <a:off x="5495544" y="4544568"/>
            <a:ext cx="1435608" cy="256032"/>
          </a:xfrm>
          <a:prstGeom prst="rect">
            <a:avLst/>
          </a:prstGeom>
          <a:noFill/>
        </p:spPr>
        <p:txBody>
          <a:bodyPr wrap="square">
            <a:spAutoFit/>
          </a:bodyPr>
          <a:lstStyle/>
          <a:p>
            <a:pPr algn="l"/>
            <a:r>
              <a:rPr sz="750" b="0" i="0">
                <a:solidFill>
                  <a:srgbClr val="5E6A66"/>
                </a:solidFill>
                <a:latin typeface="Calibri"/>
              </a:rPr>
              <a:t>Kani survey 2025 · mid-size D2C brands</a:t>
            </a:r>
          </a:p>
        </p:txBody>
      </p:sp>
      <p:sp>
        <p:nvSpPr>
          <p:cNvPr id="46" name="Rectangle 45"/>
          <p:cNvSpPr/>
          <p:nvPr/>
        </p:nvSpPr>
        <p:spPr>
          <a:xfrm>
            <a:off x="7068312" y="1325880"/>
            <a:ext cx="1572768" cy="292608"/>
          </a:xfrm>
          <a:prstGeom prst="rect">
            <a:avLst/>
          </a:prstGeom>
          <a:solidFill>
            <a:srgbClr val="EDEFEE"/>
          </a:solidFill>
          <a:ln w="15240">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159752" y="1389380"/>
            <a:ext cx="865022" cy="228600"/>
          </a:xfrm>
          <a:prstGeom prst="rect">
            <a:avLst/>
          </a:prstGeom>
          <a:noFill/>
        </p:spPr>
        <p:txBody>
          <a:bodyPr wrap="square">
            <a:spAutoFit/>
          </a:bodyPr>
          <a:lstStyle/>
          <a:p>
            <a:pPr algn="l"/>
            <a:r>
              <a:rPr sz="800" b="1" i="0">
                <a:solidFill>
                  <a:srgbClr val="0F1F1B"/>
                </a:solidFill>
                <a:latin typeface="Calibri"/>
              </a:rPr>
              <a:t>ALERT</a:t>
            </a:r>
          </a:p>
        </p:txBody>
      </p:sp>
      <p:sp>
        <p:nvSpPr>
          <p:cNvPr id="48" name="Rectangle 47"/>
          <p:cNvSpPr/>
          <p:nvPr/>
        </p:nvSpPr>
        <p:spPr>
          <a:xfrm>
            <a:off x="7068312" y="1618488"/>
            <a:ext cx="1572768" cy="2633472"/>
          </a:xfrm>
          <a:prstGeom prst="rect">
            <a:avLst/>
          </a:prstGeom>
          <a:solidFill>
            <a:srgbClr val="FBFBFB"/>
          </a:solidFill>
          <a:ln w="9525">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159752" y="1694688"/>
            <a:ext cx="1435608" cy="411480"/>
          </a:xfrm>
          <a:prstGeom prst="rect">
            <a:avLst/>
          </a:prstGeom>
          <a:noFill/>
        </p:spPr>
        <p:txBody>
          <a:bodyPr wrap="square">
            <a:spAutoFit/>
          </a:bodyPr>
          <a:lstStyle/>
          <a:p>
            <a:pPr algn="l"/>
            <a:r>
              <a:rPr sz="950" b="1" i="0">
                <a:solidFill>
                  <a:srgbClr val="0F1F1B"/>
                </a:solidFill>
                <a:latin typeface="Calibri"/>
              </a:rPr>
              <a:t>High-Value Transaction Alert</a:t>
            </a:r>
          </a:p>
        </p:txBody>
      </p:sp>
      <p:sp>
        <p:nvSpPr>
          <p:cNvPr id="50" name="TextBox 49"/>
          <p:cNvSpPr txBox="1"/>
          <p:nvPr/>
        </p:nvSpPr>
        <p:spPr>
          <a:xfrm>
            <a:off x="7159752" y="2093976"/>
            <a:ext cx="1435608" cy="2103120"/>
          </a:xfrm>
          <a:prstGeom prst="rect">
            <a:avLst/>
          </a:prstGeom>
          <a:noFill/>
        </p:spPr>
        <p:txBody>
          <a:bodyPr wrap="square">
            <a:spAutoFit/>
          </a:bodyPr>
          <a:lstStyle/>
          <a:p>
            <a:pPr algn="l"/>
            <a:r>
              <a:rPr sz="850" b="0" i="0">
                <a:solidFill>
                  <a:srgbClr val="44524C"/>
                </a:solidFill>
                <a:latin typeface="Calibri"/>
              </a:rPr>
              <a:t>Transaction crosses a threshold you set. Slack ping to finance and Sheets row appended within 40 seconds. No morning report needed.</a:t>
            </a:r>
          </a:p>
        </p:txBody>
      </p:sp>
      <p:sp>
        <p:nvSpPr>
          <p:cNvPr id="51" name="Rectangle 50"/>
          <p:cNvSpPr/>
          <p:nvPr/>
        </p:nvSpPr>
        <p:spPr>
          <a:xfrm>
            <a:off x="7068312" y="4251960"/>
            <a:ext cx="1572768" cy="594360"/>
          </a:xfrm>
          <a:prstGeom prst="rect">
            <a:avLst/>
          </a:prstGeom>
          <a:solidFill>
            <a:srgbClr val="FBFBFB"/>
          </a:solidFill>
          <a:ln w="9525">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068312" y="4251960"/>
            <a:ext cx="1572768" cy="9525"/>
          </a:xfrm>
          <a:prstGeom prst="rect">
            <a:avLst/>
          </a:prstGeom>
          <a:solidFill>
            <a:srgbClr val="D6DD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159752" y="4315460"/>
            <a:ext cx="1435608" cy="274320"/>
          </a:xfrm>
          <a:prstGeom prst="rect">
            <a:avLst/>
          </a:prstGeom>
          <a:noFill/>
        </p:spPr>
        <p:txBody>
          <a:bodyPr wrap="square">
            <a:spAutoFit/>
          </a:bodyPr>
          <a:lstStyle/>
          <a:p>
            <a:pPr algn="l"/>
            <a:r>
              <a:rPr sz="900" b="1" i="0">
                <a:solidFill>
                  <a:srgbClr val="007A55"/>
                </a:solidFill>
                <a:latin typeface="Calibri"/>
              </a:rPr>
              <a:t>40 seconds · threshold set by you</a:t>
            </a:r>
          </a:p>
        </p:txBody>
      </p:sp>
      <p:sp>
        <p:nvSpPr>
          <p:cNvPr id="54" name="TextBox 53"/>
          <p:cNvSpPr txBox="1"/>
          <p:nvPr/>
        </p:nvSpPr>
        <p:spPr>
          <a:xfrm>
            <a:off x="7159752" y="4544568"/>
            <a:ext cx="1435608" cy="256032"/>
          </a:xfrm>
          <a:prstGeom prst="rect">
            <a:avLst/>
          </a:prstGeom>
          <a:noFill/>
        </p:spPr>
        <p:txBody>
          <a:bodyPr wrap="square">
            <a:spAutoFit/>
          </a:bodyPr>
          <a:lstStyle/>
          <a:p>
            <a:pPr algn="l"/>
            <a:r>
              <a:rPr sz="750" b="0" i="0">
                <a:solidFill>
                  <a:srgbClr val="5E6A66"/>
                </a:solidFill>
                <a:latin typeface="Calibri"/>
              </a:rPr>
              <a:t>Transaction to Slack alert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BFB"/>
        </a:solidFill>
        <a:effectLst/>
      </p:bgPr>
    </p:bg>
    <p:spTree>
      <p:nvGrpSpPr>
        <p:cNvPr id="1" name=""/>
        <p:cNvGrpSpPr/>
        <p:nvPr/>
      </p:nvGrpSpPr>
      <p:grpSpPr/>
      <p:sp>
        <p:nvSpPr>
          <p:cNvPr id="2" name="Rectangle 1"/>
          <p:cNvSpPr/>
          <p:nvPr/>
        </p:nvSpPr>
        <p:spPr>
          <a:xfrm>
            <a:off x="256032" y="137160"/>
            <a:ext cx="68580" cy="68580"/>
          </a:xfrm>
          <a:prstGeom prst="rect">
            <a:avLst/>
          </a:prstGeom>
          <a:solidFill>
            <a:srgbClr val="00B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2286000" cy="256032"/>
          </a:xfrm>
          <a:prstGeom prst="rect">
            <a:avLst/>
          </a:prstGeom>
          <a:noFill/>
        </p:spPr>
        <p:txBody>
          <a:bodyPr wrap="square">
            <a:spAutoFit/>
          </a:bodyPr>
          <a:lstStyle/>
          <a:p>
            <a:pPr algn="l"/>
            <a:r>
              <a:rPr sz="750" b="1" i="0">
                <a:solidFill>
                  <a:srgbClr val="5E6A66"/>
                </a:solidFill>
                <a:latin typeface="Calibri"/>
              </a:rPr>
              <a:t>Cashfree · Relay</a:t>
            </a:r>
          </a:p>
        </p:txBody>
      </p:sp>
      <p:sp>
        <p:nvSpPr>
          <p:cNvPr id="4" name="TextBox 3"/>
          <p:cNvSpPr txBox="1"/>
          <p:nvPr/>
        </p:nvSpPr>
        <p:spPr>
          <a:xfrm>
            <a:off x="8686800" y="4850892"/>
            <a:ext cx="457200" cy="228600"/>
          </a:xfrm>
          <a:prstGeom prst="rect">
            <a:avLst/>
          </a:prstGeom>
          <a:noFill/>
        </p:spPr>
        <p:txBody>
          <a:bodyPr wrap="square">
            <a:spAutoFit/>
          </a:bodyPr>
          <a:lstStyle/>
          <a:p>
            <a:pPr algn="r"/>
            <a:r>
              <a:rPr sz="800" b="1" i="0">
                <a:solidFill>
                  <a:srgbClr val="0F1F1B"/>
                </a:solidFill>
                <a:latin typeface="Calibri"/>
              </a:rPr>
              <a:t>08 / 10</a:t>
            </a:r>
          </a:p>
        </p:txBody>
      </p:sp>
      <p:sp>
        <p:nvSpPr>
          <p:cNvPr id="5" name="Rectangle 4"/>
          <p:cNvSpPr/>
          <p:nvPr/>
        </p:nvSpPr>
        <p:spPr>
          <a:xfrm>
            <a:off x="256032" y="329184"/>
            <a:ext cx="8631936" cy="6350"/>
          </a:xfrm>
          <a:prstGeom prst="rect">
            <a:avLst/>
          </a:prstGeom>
          <a:solidFill>
            <a:srgbClr val="D6DD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520700"/>
            <a:ext cx="182880" cy="9525"/>
          </a:xfrm>
          <a:prstGeom prst="rect">
            <a:avLst/>
          </a:prstGeom>
          <a:solidFill>
            <a:srgbClr val="00B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457200"/>
            <a:ext cx="4572000" cy="201168"/>
          </a:xfrm>
          <a:prstGeom prst="rect">
            <a:avLst/>
          </a:prstGeom>
          <a:noFill/>
        </p:spPr>
        <p:txBody>
          <a:bodyPr wrap="square">
            <a:spAutoFit/>
          </a:bodyPr>
          <a:lstStyle/>
          <a:p>
            <a:pPr algn="l"/>
            <a:r>
              <a:rPr sz="750" b="1" i="0">
                <a:solidFill>
                  <a:srgbClr val="5E6A66"/>
                </a:solidFill>
                <a:latin typeface="Calibri"/>
              </a:rPr>
              <a:t>THE MOST URGENT PROBLEM FIRST</a:t>
            </a:r>
          </a:p>
        </p:txBody>
      </p:sp>
      <p:sp>
        <p:nvSpPr>
          <p:cNvPr id="8" name="TextBox 7"/>
          <p:cNvSpPr txBox="1"/>
          <p:nvPr/>
        </p:nvSpPr>
        <p:spPr>
          <a:xfrm>
            <a:off x="502920" y="731520"/>
            <a:ext cx="8229600" cy="594360"/>
          </a:xfrm>
          <a:prstGeom prst="rect">
            <a:avLst/>
          </a:prstGeom>
          <a:noFill/>
        </p:spPr>
        <p:txBody>
          <a:bodyPr wrap="none">
            <a:spAutoFit/>
          </a:bodyPr>
          <a:lstStyle/>
          <a:p>
            <a:r>
              <a:rPr sz="2000">
                <a:solidFill>
                  <a:srgbClr val="0F1F1B"/>
                </a:solidFill>
                <a:latin typeface="Calibri"/>
              </a:rPr>
              <a:t>Most RTO tools score the risk and stop. </a:t>
            </a:r>
            <a:r>
              <a:rPr sz="2000" i="1">
                <a:solidFill>
                  <a:srgbClr val="0F1F1B"/>
                </a:solidFill>
                <a:latin typeface="Calibri"/>
              </a:rPr>
              <a:t>This agent confirms the order before dispatch.</a:t>
            </a:r>
          </a:p>
        </p:txBody>
      </p:sp>
      <p:sp>
        <p:nvSpPr>
          <p:cNvPr id="9" name="Rectangle 8"/>
          <p:cNvSpPr/>
          <p:nvPr/>
        </p:nvSpPr>
        <p:spPr>
          <a:xfrm>
            <a:off x="411480" y="1463040"/>
            <a:ext cx="4114800" cy="2834640"/>
          </a:xfrm>
          <a:prstGeom prst="rect">
            <a:avLst/>
          </a:prstGeom>
          <a:solidFill>
            <a:srgbClr val="FBFBFB"/>
          </a:solidFill>
          <a:ln w="12700">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564640"/>
            <a:ext cx="3840480" cy="228600"/>
          </a:xfrm>
          <a:prstGeom prst="rect">
            <a:avLst/>
          </a:prstGeom>
          <a:noFill/>
        </p:spPr>
        <p:txBody>
          <a:bodyPr wrap="square">
            <a:spAutoFit/>
          </a:bodyPr>
          <a:lstStyle/>
          <a:p>
            <a:pPr algn="l"/>
            <a:r>
              <a:rPr sz="750" b="1" i="0">
                <a:solidFill>
                  <a:srgbClr val="5E6A66"/>
                </a:solidFill>
                <a:latin typeface="Calibri"/>
              </a:rPr>
              <a:t>BEFORE · EVERY MORNING</a:t>
            </a:r>
          </a:p>
        </p:txBody>
      </p:sp>
      <p:sp>
        <p:nvSpPr>
          <p:cNvPr id="11" name="TextBox 10"/>
          <p:cNvSpPr txBox="1"/>
          <p:nvPr/>
        </p:nvSpPr>
        <p:spPr>
          <a:xfrm>
            <a:off x="548640" y="1847088"/>
            <a:ext cx="228600" cy="320040"/>
          </a:xfrm>
          <a:prstGeom prst="rect">
            <a:avLst/>
          </a:prstGeom>
          <a:noFill/>
        </p:spPr>
        <p:txBody>
          <a:bodyPr wrap="square">
            <a:spAutoFit/>
          </a:bodyPr>
          <a:lstStyle/>
          <a:p>
            <a:pPr algn="l"/>
            <a:r>
              <a:rPr sz="1100" b="1" i="0">
                <a:solidFill>
                  <a:srgbClr val="C0392B"/>
                </a:solidFill>
                <a:latin typeface="Calibri"/>
              </a:rPr>
              <a:t>✕</a:t>
            </a:r>
          </a:p>
        </p:txBody>
      </p:sp>
      <p:sp>
        <p:nvSpPr>
          <p:cNvPr id="12" name="TextBox 11"/>
          <p:cNvSpPr txBox="1"/>
          <p:nvPr/>
        </p:nvSpPr>
        <p:spPr>
          <a:xfrm>
            <a:off x="795528" y="1847088"/>
            <a:ext cx="3611880" cy="347472"/>
          </a:xfrm>
          <a:prstGeom prst="rect">
            <a:avLst/>
          </a:prstGeom>
          <a:noFill/>
        </p:spPr>
        <p:txBody>
          <a:bodyPr wrap="square">
            <a:spAutoFit/>
          </a:bodyPr>
          <a:lstStyle/>
          <a:p>
            <a:pPr algn="l"/>
            <a:r>
              <a:rPr sz="950" b="1" i="0">
                <a:solidFill>
                  <a:srgbClr val="0F1F1B"/>
                </a:solidFill>
                <a:latin typeface="Calibri"/>
              </a:rPr>
              <a:t>Open Cashfree. Export COD orders from last night.</a:t>
            </a:r>
          </a:p>
        </p:txBody>
      </p:sp>
      <p:sp>
        <p:nvSpPr>
          <p:cNvPr id="13" name="TextBox 12"/>
          <p:cNvSpPr txBox="1"/>
          <p:nvPr/>
        </p:nvSpPr>
        <p:spPr>
          <a:xfrm>
            <a:off x="548640" y="2231136"/>
            <a:ext cx="228600" cy="320040"/>
          </a:xfrm>
          <a:prstGeom prst="rect">
            <a:avLst/>
          </a:prstGeom>
          <a:noFill/>
        </p:spPr>
        <p:txBody>
          <a:bodyPr wrap="square">
            <a:spAutoFit/>
          </a:bodyPr>
          <a:lstStyle/>
          <a:p>
            <a:pPr algn="l"/>
            <a:r>
              <a:rPr sz="1100" b="1" i="0">
                <a:solidFill>
                  <a:srgbClr val="C0392B"/>
                </a:solidFill>
                <a:latin typeface="Calibri"/>
              </a:rPr>
              <a:t>✕</a:t>
            </a:r>
          </a:p>
        </p:txBody>
      </p:sp>
      <p:sp>
        <p:nvSpPr>
          <p:cNvPr id="14" name="TextBox 13"/>
          <p:cNvSpPr txBox="1"/>
          <p:nvPr/>
        </p:nvSpPr>
        <p:spPr>
          <a:xfrm>
            <a:off x="795528" y="2231136"/>
            <a:ext cx="3611880" cy="347472"/>
          </a:xfrm>
          <a:prstGeom prst="rect">
            <a:avLst/>
          </a:prstGeom>
          <a:noFill/>
        </p:spPr>
        <p:txBody>
          <a:bodyPr wrap="square">
            <a:spAutoFit/>
          </a:bodyPr>
          <a:lstStyle/>
          <a:p>
            <a:pPr algn="l"/>
            <a:r>
              <a:rPr sz="950" b="1" i="0">
                <a:solidFill>
                  <a:srgbClr val="0F1F1B"/>
                </a:solidFill>
                <a:latin typeface="Calibri"/>
              </a:rPr>
              <a:t>Open WhatsApp. Start sending confirmation messages.</a:t>
            </a:r>
          </a:p>
        </p:txBody>
      </p:sp>
      <p:sp>
        <p:nvSpPr>
          <p:cNvPr id="15" name="TextBox 14"/>
          <p:cNvSpPr txBox="1"/>
          <p:nvPr/>
        </p:nvSpPr>
        <p:spPr>
          <a:xfrm>
            <a:off x="548640" y="2615184"/>
            <a:ext cx="228600" cy="320040"/>
          </a:xfrm>
          <a:prstGeom prst="rect">
            <a:avLst/>
          </a:prstGeom>
          <a:noFill/>
        </p:spPr>
        <p:txBody>
          <a:bodyPr wrap="square">
            <a:spAutoFit/>
          </a:bodyPr>
          <a:lstStyle/>
          <a:p>
            <a:pPr algn="l"/>
            <a:r>
              <a:rPr sz="1100" b="1" i="0">
                <a:solidFill>
                  <a:srgbClr val="C0392B"/>
                </a:solidFill>
                <a:latin typeface="Calibri"/>
              </a:rPr>
              <a:t>✕</a:t>
            </a:r>
          </a:p>
        </p:txBody>
      </p:sp>
      <p:sp>
        <p:nvSpPr>
          <p:cNvPr id="16" name="TextBox 15"/>
          <p:cNvSpPr txBox="1"/>
          <p:nvPr/>
        </p:nvSpPr>
        <p:spPr>
          <a:xfrm>
            <a:off x="795528" y="2615184"/>
            <a:ext cx="3611880" cy="347472"/>
          </a:xfrm>
          <a:prstGeom prst="rect">
            <a:avLst/>
          </a:prstGeom>
          <a:noFill/>
        </p:spPr>
        <p:txBody>
          <a:bodyPr wrap="square">
            <a:spAutoFit/>
          </a:bodyPr>
          <a:lstStyle/>
          <a:p>
            <a:pPr algn="l"/>
            <a:r>
              <a:rPr sz="950" b="1" i="0">
                <a:solidFill>
                  <a:srgbClr val="0F1F1B"/>
                </a:solidFill>
                <a:latin typeface="Calibri"/>
              </a:rPr>
              <a:t>7 people didn't reply. Note them down. Send nudges at 2pm.</a:t>
            </a:r>
          </a:p>
        </p:txBody>
      </p:sp>
      <p:sp>
        <p:nvSpPr>
          <p:cNvPr id="17" name="TextBox 16"/>
          <p:cNvSpPr txBox="1"/>
          <p:nvPr/>
        </p:nvSpPr>
        <p:spPr>
          <a:xfrm>
            <a:off x="548640" y="2999232"/>
            <a:ext cx="228600" cy="320040"/>
          </a:xfrm>
          <a:prstGeom prst="rect">
            <a:avLst/>
          </a:prstGeom>
          <a:noFill/>
        </p:spPr>
        <p:txBody>
          <a:bodyPr wrap="square">
            <a:spAutoFit/>
          </a:bodyPr>
          <a:lstStyle/>
          <a:p>
            <a:pPr algn="l"/>
            <a:r>
              <a:rPr sz="1100" b="1" i="0">
                <a:solidFill>
                  <a:srgbClr val="C0392B"/>
                </a:solidFill>
                <a:latin typeface="Calibri"/>
              </a:rPr>
              <a:t>✕</a:t>
            </a:r>
          </a:p>
        </p:txBody>
      </p:sp>
      <p:sp>
        <p:nvSpPr>
          <p:cNvPr id="18" name="TextBox 17"/>
          <p:cNvSpPr txBox="1"/>
          <p:nvPr/>
        </p:nvSpPr>
        <p:spPr>
          <a:xfrm>
            <a:off x="795528" y="2999232"/>
            <a:ext cx="3611880" cy="347472"/>
          </a:xfrm>
          <a:prstGeom prst="rect">
            <a:avLst/>
          </a:prstGeom>
          <a:noFill/>
        </p:spPr>
        <p:txBody>
          <a:bodyPr wrap="square">
            <a:spAutoFit/>
          </a:bodyPr>
          <a:lstStyle/>
          <a:p>
            <a:pPr algn="l"/>
            <a:r>
              <a:rPr sz="950" b="1" i="0">
                <a:solidFill>
                  <a:srgbClr val="0F1F1B"/>
                </a:solidFill>
                <a:latin typeface="Calibri"/>
              </a:rPr>
              <a:t>Flag 3 high-risk orders to ops before they go for dispatch.</a:t>
            </a:r>
          </a:p>
        </p:txBody>
      </p:sp>
      <p:sp>
        <p:nvSpPr>
          <p:cNvPr id="19" name="TextBox 18"/>
          <p:cNvSpPr txBox="1"/>
          <p:nvPr/>
        </p:nvSpPr>
        <p:spPr>
          <a:xfrm>
            <a:off x="548640" y="3383280"/>
            <a:ext cx="228600" cy="320040"/>
          </a:xfrm>
          <a:prstGeom prst="rect">
            <a:avLst/>
          </a:prstGeom>
          <a:noFill/>
        </p:spPr>
        <p:txBody>
          <a:bodyPr wrap="square">
            <a:spAutoFit/>
          </a:bodyPr>
          <a:lstStyle/>
          <a:p>
            <a:pPr algn="l"/>
            <a:r>
              <a:rPr sz="1100" b="1" i="0">
                <a:solidFill>
                  <a:srgbClr val="C0392B"/>
                </a:solidFill>
                <a:latin typeface="Calibri"/>
              </a:rPr>
              <a:t>✕</a:t>
            </a:r>
          </a:p>
        </p:txBody>
      </p:sp>
      <p:sp>
        <p:nvSpPr>
          <p:cNvPr id="20" name="TextBox 19"/>
          <p:cNvSpPr txBox="1"/>
          <p:nvPr/>
        </p:nvSpPr>
        <p:spPr>
          <a:xfrm>
            <a:off x="795528" y="3383280"/>
            <a:ext cx="3611880" cy="347472"/>
          </a:xfrm>
          <a:prstGeom prst="rect">
            <a:avLst/>
          </a:prstGeom>
          <a:noFill/>
        </p:spPr>
        <p:txBody>
          <a:bodyPr wrap="square">
            <a:spAutoFit/>
          </a:bodyPr>
          <a:lstStyle/>
          <a:p>
            <a:pPr algn="l"/>
            <a:r>
              <a:rPr sz="950" b="1" i="0">
                <a:solidFill>
                  <a:srgbClr val="0F1F1B"/>
                </a:solidFill>
                <a:latin typeface="Calibri"/>
              </a:rPr>
              <a:t>Repeat tomorrow. And the day after.</a:t>
            </a:r>
          </a:p>
        </p:txBody>
      </p:sp>
      <p:sp>
        <p:nvSpPr>
          <p:cNvPr id="21" name="Rectangle 20"/>
          <p:cNvSpPr/>
          <p:nvPr/>
        </p:nvSpPr>
        <p:spPr>
          <a:xfrm>
            <a:off x="411480" y="3977640"/>
            <a:ext cx="4114800" cy="9525"/>
          </a:xfrm>
          <a:prstGeom prst="rect">
            <a:avLst/>
          </a:prstGeom>
          <a:solidFill>
            <a:srgbClr val="924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023360"/>
            <a:ext cx="3931920" cy="256032"/>
          </a:xfrm>
          <a:prstGeom prst="rect">
            <a:avLst/>
          </a:prstGeom>
          <a:noFill/>
        </p:spPr>
        <p:txBody>
          <a:bodyPr wrap="square">
            <a:spAutoFit/>
          </a:bodyPr>
          <a:lstStyle/>
          <a:p>
            <a:pPr algn="l"/>
            <a:r>
              <a:rPr sz="1000" b="1" i="0">
                <a:solidFill>
                  <a:srgbClr val="92400E"/>
                </a:solidFill>
                <a:latin typeface="Calibri"/>
              </a:rPr>
              <a:t>1.5 to 2 hours, every single morning.</a:t>
            </a:r>
          </a:p>
        </p:txBody>
      </p:sp>
      <p:sp>
        <p:nvSpPr>
          <p:cNvPr id="23" name="Rectangle 22"/>
          <p:cNvSpPr/>
          <p:nvPr/>
        </p:nvSpPr>
        <p:spPr>
          <a:xfrm>
            <a:off x="411480" y="4407408"/>
            <a:ext cx="2011680" cy="594360"/>
          </a:xfrm>
          <a:prstGeom prst="rect">
            <a:avLst/>
          </a:prstGeom>
          <a:solidFill>
            <a:srgbClr val="FBFBFB"/>
          </a:solidFill>
          <a:ln w="9525">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21208" y="4458208"/>
            <a:ext cx="1828800" cy="347472"/>
          </a:xfrm>
          <a:prstGeom prst="rect">
            <a:avLst/>
          </a:prstGeom>
          <a:noFill/>
        </p:spPr>
        <p:txBody>
          <a:bodyPr wrap="square">
            <a:spAutoFit/>
          </a:bodyPr>
          <a:lstStyle/>
          <a:p>
            <a:pPr algn="l"/>
            <a:r>
              <a:rPr sz="2800" b="0" i="0">
                <a:solidFill>
                  <a:srgbClr val="0F1F1B"/>
                </a:solidFill>
                <a:latin typeface="Calibri"/>
              </a:rPr>
              <a:t>26%</a:t>
            </a:r>
          </a:p>
        </p:txBody>
      </p:sp>
      <p:sp>
        <p:nvSpPr>
          <p:cNvPr id="25" name="TextBox 24"/>
          <p:cNvSpPr txBox="1"/>
          <p:nvPr/>
        </p:nvSpPr>
        <p:spPr>
          <a:xfrm>
            <a:off x="521208" y="4791456"/>
            <a:ext cx="1828800" cy="182880"/>
          </a:xfrm>
          <a:prstGeom prst="rect">
            <a:avLst/>
          </a:prstGeom>
          <a:noFill/>
        </p:spPr>
        <p:txBody>
          <a:bodyPr wrap="square">
            <a:spAutoFit/>
          </a:bodyPr>
          <a:lstStyle/>
          <a:p>
            <a:pPr algn="l"/>
            <a:r>
              <a:rPr sz="800" b="0" i="0">
                <a:solidFill>
                  <a:srgbClr val="44524C"/>
                </a:solidFill>
                <a:latin typeface="Calibri"/>
              </a:rPr>
              <a:t>National RTO rate. Shipway 2025.</a:t>
            </a:r>
          </a:p>
        </p:txBody>
      </p:sp>
      <p:sp>
        <p:nvSpPr>
          <p:cNvPr id="26" name="Rectangle 25"/>
          <p:cNvSpPr/>
          <p:nvPr/>
        </p:nvSpPr>
        <p:spPr>
          <a:xfrm>
            <a:off x="2514600" y="4407408"/>
            <a:ext cx="2011680" cy="594360"/>
          </a:xfrm>
          <a:prstGeom prst="rect">
            <a:avLst/>
          </a:prstGeom>
          <a:solidFill>
            <a:srgbClr val="FBFBFB"/>
          </a:solidFill>
          <a:ln w="9525">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624328" y="4458208"/>
            <a:ext cx="1828800" cy="347472"/>
          </a:xfrm>
          <a:prstGeom prst="rect">
            <a:avLst/>
          </a:prstGeom>
          <a:noFill/>
        </p:spPr>
        <p:txBody>
          <a:bodyPr wrap="square">
            <a:spAutoFit/>
          </a:bodyPr>
          <a:lstStyle/>
          <a:p>
            <a:pPr algn="l"/>
            <a:r>
              <a:rPr sz="2800" b="0" i="0">
                <a:solidFill>
                  <a:srgbClr val="0F1F1B"/>
                </a:solidFill>
                <a:latin typeface="Calibri"/>
              </a:rPr>
              <a:t>₹800</a:t>
            </a:r>
          </a:p>
        </p:txBody>
      </p:sp>
      <p:sp>
        <p:nvSpPr>
          <p:cNvPr id="28" name="TextBox 27"/>
          <p:cNvSpPr txBox="1"/>
          <p:nvPr/>
        </p:nvSpPr>
        <p:spPr>
          <a:xfrm>
            <a:off x="2624328" y="4791456"/>
            <a:ext cx="1828800" cy="182880"/>
          </a:xfrm>
          <a:prstGeom prst="rect">
            <a:avLst/>
          </a:prstGeom>
          <a:noFill/>
        </p:spPr>
        <p:txBody>
          <a:bodyPr wrap="square">
            <a:spAutoFit/>
          </a:bodyPr>
          <a:lstStyle/>
          <a:p>
            <a:pPr algn="l"/>
            <a:r>
              <a:rPr sz="800" b="0" i="0">
                <a:solidFill>
                  <a:srgbClr val="44524C"/>
                </a:solidFill>
                <a:latin typeface="Calibri"/>
              </a:rPr>
              <a:t>Avg. loss per RTO. WareIQ.</a:t>
            </a:r>
          </a:p>
        </p:txBody>
      </p:sp>
      <p:sp>
        <p:nvSpPr>
          <p:cNvPr id="29" name="Rectangle 28"/>
          <p:cNvSpPr/>
          <p:nvPr/>
        </p:nvSpPr>
        <p:spPr>
          <a:xfrm>
            <a:off x="4754880" y="1463040"/>
            <a:ext cx="4206240" cy="2834640"/>
          </a:xfrm>
          <a:prstGeom prst="rect">
            <a:avLst/>
          </a:prstGeom>
          <a:solidFill>
            <a:srgbClr val="E8F8F3"/>
          </a:solidFill>
          <a:ln w="19050">
            <a:solidFill>
              <a:srgbClr val="00B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92040" y="1564640"/>
            <a:ext cx="3931920" cy="228600"/>
          </a:xfrm>
          <a:prstGeom prst="rect">
            <a:avLst/>
          </a:prstGeom>
          <a:noFill/>
        </p:spPr>
        <p:txBody>
          <a:bodyPr wrap="square">
            <a:spAutoFit/>
          </a:bodyPr>
          <a:lstStyle/>
          <a:p>
            <a:pPr algn="l"/>
            <a:r>
              <a:rPr sz="750" b="1" i="0">
                <a:solidFill>
                  <a:srgbClr val="007A55"/>
                </a:solidFill>
                <a:latin typeface="Calibri"/>
              </a:rPr>
              <a:t>AFTER · COD CONFIRMATION AI AGENT</a:t>
            </a:r>
          </a:p>
        </p:txBody>
      </p:sp>
      <p:sp>
        <p:nvSpPr>
          <p:cNvPr id="31" name="TextBox 30"/>
          <p:cNvSpPr txBox="1"/>
          <p:nvPr/>
        </p:nvSpPr>
        <p:spPr>
          <a:xfrm>
            <a:off x="4892040" y="1847088"/>
            <a:ext cx="228600" cy="320040"/>
          </a:xfrm>
          <a:prstGeom prst="rect">
            <a:avLst/>
          </a:prstGeom>
          <a:noFill/>
        </p:spPr>
        <p:txBody>
          <a:bodyPr wrap="square">
            <a:spAutoFit/>
          </a:bodyPr>
          <a:lstStyle/>
          <a:p>
            <a:pPr algn="l"/>
            <a:r>
              <a:rPr sz="1100" b="1" i="0">
                <a:solidFill>
                  <a:srgbClr val="00B488"/>
                </a:solidFill>
                <a:latin typeface="Calibri"/>
              </a:rPr>
              <a:t>✓</a:t>
            </a:r>
          </a:p>
        </p:txBody>
      </p:sp>
      <p:sp>
        <p:nvSpPr>
          <p:cNvPr id="32" name="TextBox 31"/>
          <p:cNvSpPr txBox="1"/>
          <p:nvPr/>
        </p:nvSpPr>
        <p:spPr>
          <a:xfrm>
            <a:off x="5138928" y="1847088"/>
            <a:ext cx="3703320" cy="347472"/>
          </a:xfrm>
          <a:prstGeom prst="rect">
            <a:avLst/>
          </a:prstGeom>
          <a:noFill/>
        </p:spPr>
        <p:txBody>
          <a:bodyPr wrap="square">
            <a:spAutoFit/>
          </a:bodyPr>
          <a:lstStyle/>
          <a:p>
            <a:pPr algn="l"/>
            <a:r>
              <a:rPr sz="950" b="1" i="0">
                <a:solidFill>
                  <a:srgbClr val="0F1F1B"/>
                </a:solidFill>
                <a:latin typeface="Calibri"/>
              </a:rPr>
              <a:t>COD order placed. Agent sends confirmation in 5 minutes.</a:t>
            </a:r>
          </a:p>
        </p:txBody>
      </p:sp>
      <p:sp>
        <p:nvSpPr>
          <p:cNvPr id="33" name="TextBox 32"/>
          <p:cNvSpPr txBox="1"/>
          <p:nvPr/>
        </p:nvSpPr>
        <p:spPr>
          <a:xfrm>
            <a:off x="4892040" y="2231136"/>
            <a:ext cx="228600" cy="320040"/>
          </a:xfrm>
          <a:prstGeom prst="rect">
            <a:avLst/>
          </a:prstGeom>
          <a:noFill/>
        </p:spPr>
        <p:txBody>
          <a:bodyPr wrap="square">
            <a:spAutoFit/>
          </a:bodyPr>
          <a:lstStyle/>
          <a:p>
            <a:pPr algn="l"/>
            <a:r>
              <a:rPr sz="1100" b="1" i="0">
                <a:solidFill>
                  <a:srgbClr val="00B488"/>
                </a:solidFill>
                <a:latin typeface="Calibri"/>
              </a:rPr>
              <a:t>✓</a:t>
            </a:r>
          </a:p>
        </p:txBody>
      </p:sp>
      <p:sp>
        <p:nvSpPr>
          <p:cNvPr id="34" name="TextBox 33"/>
          <p:cNvSpPr txBox="1"/>
          <p:nvPr/>
        </p:nvSpPr>
        <p:spPr>
          <a:xfrm>
            <a:off x="5138928" y="2231136"/>
            <a:ext cx="3703320" cy="347472"/>
          </a:xfrm>
          <a:prstGeom prst="rect">
            <a:avLst/>
          </a:prstGeom>
          <a:noFill/>
        </p:spPr>
        <p:txBody>
          <a:bodyPr wrap="square">
            <a:spAutoFit/>
          </a:bodyPr>
          <a:lstStyle/>
          <a:p>
            <a:pPr algn="l"/>
            <a:r>
              <a:rPr sz="950" b="1" i="0">
                <a:solidFill>
                  <a:srgbClr val="0F1F1B"/>
                </a:solidFill>
                <a:latin typeface="Calibri"/>
              </a:rPr>
              <a:t>No reply in 4 hours. Agent sends nudge. Automatically.</a:t>
            </a:r>
          </a:p>
        </p:txBody>
      </p:sp>
      <p:sp>
        <p:nvSpPr>
          <p:cNvPr id="35" name="TextBox 34"/>
          <p:cNvSpPr txBox="1"/>
          <p:nvPr/>
        </p:nvSpPr>
        <p:spPr>
          <a:xfrm>
            <a:off x="4892040" y="2615184"/>
            <a:ext cx="228600" cy="320040"/>
          </a:xfrm>
          <a:prstGeom prst="rect">
            <a:avLst/>
          </a:prstGeom>
          <a:noFill/>
        </p:spPr>
        <p:txBody>
          <a:bodyPr wrap="square">
            <a:spAutoFit/>
          </a:bodyPr>
          <a:lstStyle/>
          <a:p>
            <a:pPr algn="l"/>
            <a:r>
              <a:rPr sz="1100" b="1" i="0">
                <a:solidFill>
                  <a:srgbClr val="00B488"/>
                </a:solidFill>
                <a:latin typeface="Calibri"/>
              </a:rPr>
              <a:t>✓</a:t>
            </a:r>
          </a:p>
        </p:txBody>
      </p:sp>
      <p:sp>
        <p:nvSpPr>
          <p:cNvPr id="36" name="TextBox 35"/>
          <p:cNvSpPr txBox="1"/>
          <p:nvPr/>
        </p:nvSpPr>
        <p:spPr>
          <a:xfrm>
            <a:off x="5138928" y="2615184"/>
            <a:ext cx="3703320" cy="347472"/>
          </a:xfrm>
          <a:prstGeom prst="rect">
            <a:avLst/>
          </a:prstGeom>
          <a:noFill/>
        </p:spPr>
        <p:txBody>
          <a:bodyPr wrap="square">
            <a:spAutoFit/>
          </a:bodyPr>
          <a:lstStyle/>
          <a:p>
            <a:pPr algn="l"/>
            <a:r>
              <a:rPr sz="950" b="1" i="0">
                <a:solidFill>
                  <a:srgbClr val="0F1F1B"/>
                </a:solidFill>
                <a:latin typeface="Calibri"/>
              </a:rPr>
              <a:t>Still no reply. Ops flagged before dispatch. Order held.</a:t>
            </a:r>
          </a:p>
        </p:txBody>
      </p:sp>
      <p:sp>
        <p:nvSpPr>
          <p:cNvPr id="37" name="TextBox 36"/>
          <p:cNvSpPr txBox="1"/>
          <p:nvPr/>
        </p:nvSpPr>
        <p:spPr>
          <a:xfrm>
            <a:off x="4892040" y="2999232"/>
            <a:ext cx="228600" cy="320040"/>
          </a:xfrm>
          <a:prstGeom prst="rect">
            <a:avLst/>
          </a:prstGeom>
          <a:noFill/>
        </p:spPr>
        <p:txBody>
          <a:bodyPr wrap="square">
            <a:spAutoFit/>
          </a:bodyPr>
          <a:lstStyle/>
          <a:p>
            <a:pPr algn="l"/>
            <a:r>
              <a:rPr sz="1100" b="1" i="0">
                <a:solidFill>
                  <a:srgbClr val="00B488"/>
                </a:solidFill>
                <a:latin typeface="Calibri"/>
              </a:rPr>
              <a:t>✓</a:t>
            </a:r>
          </a:p>
        </p:txBody>
      </p:sp>
      <p:sp>
        <p:nvSpPr>
          <p:cNvPr id="38" name="TextBox 37"/>
          <p:cNvSpPr txBox="1"/>
          <p:nvPr/>
        </p:nvSpPr>
        <p:spPr>
          <a:xfrm>
            <a:off x="5138928" y="2999232"/>
            <a:ext cx="3703320" cy="347472"/>
          </a:xfrm>
          <a:prstGeom prst="rect">
            <a:avLst/>
          </a:prstGeom>
          <a:noFill/>
        </p:spPr>
        <p:txBody>
          <a:bodyPr wrap="square">
            <a:spAutoFit/>
          </a:bodyPr>
          <a:lstStyle/>
          <a:p>
            <a:pPr algn="l"/>
            <a:r>
              <a:rPr sz="950" b="1" i="0">
                <a:solidFill>
                  <a:srgbClr val="0F1F1B"/>
                </a:solidFill>
                <a:latin typeface="Calibri"/>
              </a:rPr>
              <a:t>Runs at 2am on Sunday. Runs during your supplier meeting.</a:t>
            </a:r>
          </a:p>
        </p:txBody>
      </p:sp>
      <p:sp>
        <p:nvSpPr>
          <p:cNvPr id="39" name="TextBox 38"/>
          <p:cNvSpPr txBox="1"/>
          <p:nvPr/>
        </p:nvSpPr>
        <p:spPr>
          <a:xfrm>
            <a:off x="4892040" y="3383280"/>
            <a:ext cx="228600" cy="320040"/>
          </a:xfrm>
          <a:prstGeom prst="rect">
            <a:avLst/>
          </a:prstGeom>
          <a:noFill/>
        </p:spPr>
        <p:txBody>
          <a:bodyPr wrap="square">
            <a:spAutoFit/>
          </a:bodyPr>
          <a:lstStyle/>
          <a:p>
            <a:pPr algn="l"/>
            <a:r>
              <a:rPr sz="1100" b="1" i="0">
                <a:solidFill>
                  <a:srgbClr val="00B488"/>
                </a:solidFill>
                <a:latin typeface="Calibri"/>
              </a:rPr>
              <a:t>✓</a:t>
            </a:r>
          </a:p>
        </p:txBody>
      </p:sp>
      <p:sp>
        <p:nvSpPr>
          <p:cNvPr id="40" name="TextBox 39"/>
          <p:cNvSpPr txBox="1"/>
          <p:nvPr/>
        </p:nvSpPr>
        <p:spPr>
          <a:xfrm>
            <a:off x="5138928" y="3383280"/>
            <a:ext cx="3703320" cy="347472"/>
          </a:xfrm>
          <a:prstGeom prst="rect">
            <a:avLst/>
          </a:prstGeom>
          <a:noFill/>
        </p:spPr>
        <p:txBody>
          <a:bodyPr wrap="square">
            <a:spAutoFit/>
          </a:bodyPr>
          <a:lstStyle/>
          <a:p>
            <a:pPr algn="l"/>
            <a:r>
              <a:rPr sz="950" b="1" i="0">
                <a:solidFill>
                  <a:srgbClr val="0F1F1B"/>
                </a:solidFill>
                <a:latin typeface="Calibri"/>
              </a:rPr>
              <a:t>You don't send a single message. You never open Cashfree for this again.</a:t>
            </a:r>
          </a:p>
        </p:txBody>
      </p:sp>
      <p:sp>
        <p:nvSpPr>
          <p:cNvPr id="41" name="Rectangle 40"/>
          <p:cNvSpPr/>
          <p:nvPr/>
        </p:nvSpPr>
        <p:spPr>
          <a:xfrm>
            <a:off x="4754880" y="3794760"/>
            <a:ext cx="4206240" cy="9525"/>
          </a:xfrm>
          <a:prstGeom prst="rect">
            <a:avLst/>
          </a:prstGeom>
          <a:solidFill>
            <a:srgbClr val="00B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892040" y="3840480"/>
            <a:ext cx="4023360" cy="411480"/>
          </a:xfrm>
          <a:prstGeom prst="rect">
            <a:avLst/>
          </a:prstGeom>
          <a:noFill/>
        </p:spPr>
        <p:txBody>
          <a:bodyPr wrap="none">
            <a:spAutoFit/>
          </a:bodyPr>
          <a:lstStyle/>
          <a:p>
            <a:r>
              <a:rPr sz="2200">
                <a:solidFill>
                  <a:srgbClr val="0F1F1B"/>
                </a:solidFill>
                <a:latin typeface="Calibri"/>
              </a:rPr>
              <a:t>28–32%  →  16–20%</a:t>
            </a:r>
          </a:p>
        </p:txBody>
      </p:sp>
      <p:sp>
        <p:nvSpPr>
          <p:cNvPr id="43" name="TextBox 42"/>
          <p:cNvSpPr txBox="1"/>
          <p:nvPr/>
        </p:nvSpPr>
        <p:spPr>
          <a:xfrm>
            <a:off x="4892040" y="4096512"/>
            <a:ext cx="4023360" cy="182880"/>
          </a:xfrm>
          <a:prstGeom prst="rect">
            <a:avLst/>
          </a:prstGeom>
          <a:noFill/>
        </p:spPr>
        <p:txBody>
          <a:bodyPr wrap="square">
            <a:spAutoFit/>
          </a:bodyPr>
          <a:lstStyle/>
          <a:p>
            <a:pPr algn="l"/>
            <a:r>
              <a:rPr sz="800" b="0" i="0">
                <a:solidFill>
                  <a:srgbClr val="44524C"/>
                </a:solidFill>
                <a:latin typeface="Calibri"/>
              </a:rPr>
              <a:t>RTO rate within 30 days of activation. CampaignHQ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BFB"/>
        </a:solidFill>
        <a:effectLst/>
      </p:bgPr>
    </p:bg>
    <p:spTree>
      <p:nvGrpSpPr>
        <p:cNvPr id="1" name=""/>
        <p:cNvGrpSpPr/>
        <p:nvPr/>
      </p:nvGrpSpPr>
      <p:grpSpPr/>
      <p:sp>
        <p:nvSpPr>
          <p:cNvPr id="2" name="Rectangle 1"/>
          <p:cNvSpPr/>
          <p:nvPr/>
        </p:nvSpPr>
        <p:spPr>
          <a:xfrm>
            <a:off x="256032" y="137160"/>
            <a:ext cx="68580" cy="68580"/>
          </a:xfrm>
          <a:prstGeom prst="rect">
            <a:avLst/>
          </a:prstGeom>
          <a:solidFill>
            <a:srgbClr val="00B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2286000" cy="256032"/>
          </a:xfrm>
          <a:prstGeom prst="rect">
            <a:avLst/>
          </a:prstGeom>
          <a:noFill/>
        </p:spPr>
        <p:txBody>
          <a:bodyPr wrap="square">
            <a:spAutoFit/>
          </a:bodyPr>
          <a:lstStyle/>
          <a:p>
            <a:pPr algn="l"/>
            <a:r>
              <a:rPr sz="750" b="1" i="0">
                <a:solidFill>
                  <a:srgbClr val="5E6A66"/>
                </a:solidFill>
                <a:latin typeface="Calibri"/>
              </a:rPr>
              <a:t>Cashfree · Relay</a:t>
            </a:r>
          </a:p>
        </p:txBody>
      </p:sp>
      <p:sp>
        <p:nvSpPr>
          <p:cNvPr id="4" name="TextBox 3"/>
          <p:cNvSpPr txBox="1"/>
          <p:nvPr/>
        </p:nvSpPr>
        <p:spPr>
          <a:xfrm>
            <a:off x="8686800" y="4850892"/>
            <a:ext cx="457200" cy="228600"/>
          </a:xfrm>
          <a:prstGeom prst="rect">
            <a:avLst/>
          </a:prstGeom>
          <a:noFill/>
        </p:spPr>
        <p:txBody>
          <a:bodyPr wrap="square">
            <a:spAutoFit/>
          </a:bodyPr>
          <a:lstStyle/>
          <a:p>
            <a:pPr algn="r"/>
            <a:r>
              <a:rPr sz="800" b="1" i="0">
                <a:solidFill>
                  <a:srgbClr val="0F1F1B"/>
                </a:solidFill>
                <a:latin typeface="Calibri"/>
              </a:rPr>
              <a:t>09 / 10</a:t>
            </a:r>
          </a:p>
        </p:txBody>
      </p:sp>
      <p:sp>
        <p:nvSpPr>
          <p:cNvPr id="5" name="Rectangle 4"/>
          <p:cNvSpPr/>
          <p:nvPr/>
        </p:nvSpPr>
        <p:spPr>
          <a:xfrm>
            <a:off x="256032" y="329184"/>
            <a:ext cx="8631936" cy="6350"/>
          </a:xfrm>
          <a:prstGeom prst="rect">
            <a:avLst/>
          </a:prstGeom>
          <a:solidFill>
            <a:srgbClr val="D6DD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520700"/>
            <a:ext cx="182880" cy="9525"/>
          </a:xfrm>
          <a:prstGeom prst="rect">
            <a:avLst/>
          </a:prstGeom>
          <a:solidFill>
            <a:srgbClr val="00B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457200"/>
            <a:ext cx="5486400" cy="201168"/>
          </a:xfrm>
          <a:prstGeom prst="rect">
            <a:avLst/>
          </a:prstGeom>
          <a:noFill/>
        </p:spPr>
        <p:txBody>
          <a:bodyPr wrap="square">
            <a:spAutoFit/>
          </a:bodyPr>
          <a:lstStyle/>
          <a:p>
            <a:pPr algn="l"/>
            <a:r>
              <a:rPr sz="750" b="1" i="0">
                <a:solidFill>
                  <a:srgbClr val="5E6A66"/>
                </a:solidFill>
                <a:latin typeface="Calibri"/>
              </a:rPr>
              <a:t>PURPOSE-BUILT FOR PAYMENT EVENTS</a:t>
            </a:r>
          </a:p>
        </p:txBody>
      </p:sp>
      <p:sp>
        <p:nvSpPr>
          <p:cNvPr id="8" name="TextBox 7"/>
          <p:cNvSpPr txBox="1"/>
          <p:nvPr/>
        </p:nvSpPr>
        <p:spPr>
          <a:xfrm>
            <a:off x="502920" y="731520"/>
            <a:ext cx="8229600" cy="594360"/>
          </a:xfrm>
          <a:prstGeom prst="rect">
            <a:avLst/>
          </a:prstGeom>
          <a:noFill/>
        </p:spPr>
        <p:txBody>
          <a:bodyPr wrap="none">
            <a:spAutoFit/>
          </a:bodyPr>
          <a:lstStyle/>
          <a:p>
            <a:r>
              <a:rPr sz="2000">
                <a:solidFill>
                  <a:srgbClr val="0F1F1B"/>
                </a:solidFill>
                <a:latin typeface="Calibri"/>
              </a:rPr>
              <a:t>Four things you can't get from a generic automation tool. </a:t>
            </a:r>
            <a:r>
              <a:rPr sz="2000" i="1">
                <a:solidFill>
                  <a:srgbClr val="0F1F1B"/>
                </a:solidFill>
                <a:latin typeface="Calibri"/>
              </a:rPr>
              <a:t>Because this isn't one.</a:t>
            </a:r>
          </a:p>
        </p:txBody>
      </p:sp>
      <p:sp>
        <p:nvSpPr>
          <p:cNvPr id="9" name="Rectangle 8"/>
          <p:cNvSpPr/>
          <p:nvPr/>
        </p:nvSpPr>
        <p:spPr>
          <a:xfrm>
            <a:off x="411480" y="1463040"/>
            <a:ext cx="8321040" cy="3072384"/>
          </a:xfrm>
          <a:prstGeom prst="rect">
            <a:avLst/>
          </a:prstGeom>
          <a:noFill/>
          <a:ln w="15240">
            <a:solidFill>
              <a:srgbClr val="0F1F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463040"/>
            <a:ext cx="8321040" cy="768096"/>
          </a:xfrm>
          <a:prstGeom prst="rect">
            <a:avLst/>
          </a:prstGeom>
          <a:solidFill>
            <a:srgbClr val="FBFBFB"/>
          </a:solidFill>
          <a:ln w="6350">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1480" y="1463040"/>
            <a:ext cx="1828800" cy="768096"/>
          </a:xfrm>
          <a:prstGeom prst="rect">
            <a:avLst/>
          </a:prstGeom>
          <a:solidFill>
            <a:srgbClr val="EF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240280" y="1463040"/>
            <a:ext cx="9525" cy="768096"/>
          </a:xfrm>
          <a:prstGeom prst="rect">
            <a:avLst/>
          </a:prstGeom>
          <a:solidFill>
            <a:srgbClr val="D6DD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1208" y="1564640"/>
            <a:ext cx="1691640" cy="274320"/>
          </a:xfrm>
          <a:prstGeom prst="rect">
            <a:avLst/>
          </a:prstGeom>
          <a:noFill/>
        </p:spPr>
        <p:txBody>
          <a:bodyPr wrap="square">
            <a:spAutoFit/>
          </a:bodyPr>
          <a:lstStyle/>
          <a:p>
            <a:pPr algn="l"/>
            <a:r>
              <a:rPr sz="1000" b="1" i="0">
                <a:solidFill>
                  <a:srgbClr val="007A55"/>
                </a:solidFill>
                <a:latin typeface="Calibri"/>
              </a:rPr>
              <a:t>Two trigger types</a:t>
            </a:r>
          </a:p>
        </p:txBody>
      </p:sp>
      <p:sp>
        <p:nvSpPr>
          <p:cNvPr id="14" name="TextBox 13"/>
          <p:cNvSpPr txBox="1"/>
          <p:nvPr/>
        </p:nvSpPr>
        <p:spPr>
          <a:xfrm>
            <a:off x="521208" y="1810512"/>
            <a:ext cx="1691640" cy="365760"/>
          </a:xfrm>
          <a:prstGeom prst="rect">
            <a:avLst/>
          </a:prstGeom>
          <a:noFill/>
        </p:spPr>
        <p:txBody>
          <a:bodyPr wrap="square">
            <a:spAutoFit/>
          </a:bodyPr>
          <a:lstStyle/>
          <a:p>
            <a:pPr algn="l"/>
            <a:r>
              <a:rPr sz="850" b="0" i="0">
                <a:solidFill>
                  <a:srgbClr val="5E6A66"/>
                </a:solidFill>
                <a:latin typeface="Calibri"/>
              </a:rPr>
              <a:t>Event or schedule. Both built in.</a:t>
            </a:r>
          </a:p>
        </p:txBody>
      </p:sp>
      <p:sp>
        <p:nvSpPr>
          <p:cNvPr id="15" name="TextBox 14"/>
          <p:cNvSpPr txBox="1"/>
          <p:nvPr/>
        </p:nvSpPr>
        <p:spPr>
          <a:xfrm>
            <a:off x="2377440" y="1564640"/>
            <a:ext cx="6309360" cy="615696"/>
          </a:xfrm>
          <a:prstGeom prst="rect">
            <a:avLst/>
          </a:prstGeom>
          <a:noFill/>
        </p:spPr>
        <p:txBody>
          <a:bodyPr wrap="square">
            <a:spAutoFit/>
          </a:bodyPr>
          <a:lstStyle/>
          <a:p>
            <a:pPr algn="l"/>
            <a:r>
              <a:rPr sz="950" b="0" i="0">
                <a:solidFill>
                  <a:srgbClr val="44524C"/>
                </a:solidFill>
                <a:latin typeface="Calibri"/>
              </a:rPr>
              <a:t>Trigger on a Cashfree payment event (COD placed, payment failed, refund initiated, dispute raised) and the AI agent acts within minutes. Or run on a schedule: daily recon, weekly reports, recurring recovery sweeps. You pick which fits the job.</a:t>
            </a:r>
          </a:p>
        </p:txBody>
      </p:sp>
      <p:sp>
        <p:nvSpPr>
          <p:cNvPr id="16" name="Rectangle 15"/>
          <p:cNvSpPr/>
          <p:nvPr/>
        </p:nvSpPr>
        <p:spPr>
          <a:xfrm>
            <a:off x="411480" y="2231136"/>
            <a:ext cx="8321040" cy="768096"/>
          </a:xfrm>
          <a:prstGeom prst="rect">
            <a:avLst/>
          </a:prstGeom>
          <a:solidFill>
            <a:srgbClr val="F5F7F6"/>
          </a:solidFill>
          <a:ln w="6350">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2231136"/>
            <a:ext cx="1828800" cy="768096"/>
          </a:xfrm>
          <a:prstGeom prst="rect">
            <a:avLst/>
          </a:prstGeom>
          <a:solidFill>
            <a:srgbClr val="EF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240280" y="2231136"/>
            <a:ext cx="9525" cy="768096"/>
          </a:xfrm>
          <a:prstGeom prst="rect">
            <a:avLst/>
          </a:prstGeom>
          <a:solidFill>
            <a:srgbClr val="D6DD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 y="2332736"/>
            <a:ext cx="1691640" cy="274320"/>
          </a:xfrm>
          <a:prstGeom prst="rect">
            <a:avLst/>
          </a:prstGeom>
          <a:noFill/>
        </p:spPr>
        <p:txBody>
          <a:bodyPr wrap="square">
            <a:spAutoFit/>
          </a:bodyPr>
          <a:lstStyle/>
          <a:p>
            <a:pPr algn="l"/>
            <a:r>
              <a:rPr sz="1000" b="1" i="0">
                <a:solidFill>
                  <a:srgbClr val="007A55"/>
                </a:solidFill>
                <a:latin typeface="Calibri"/>
              </a:rPr>
              <a:t>No developer needed</a:t>
            </a:r>
          </a:p>
        </p:txBody>
      </p:sp>
      <p:sp>
        <p:nvSpPr>
          <p:cNvPr id="20" name="TextBox 19"/>
          <p:cNvSpPr txBox="1"/>
          <p:nvPr/>
        </p:nvSpPr>
        <p:spPr>
          <a:xfrm>
            <a:off x="521208" y="2578608"/>
            <a:ext cx="1691640" cy="365760"/>
          </a:xfrm>
          <a:prstGeom prst="rect">
            <a:avLst/>
          </a:prstGeom>
          <a:noFill/>
        </p:spPr>
        <p:txBody>
          <a:bodyPr wrap="square">
            <a:spAutoFit/>
          </a:bodyPr>
          <a:lstStyle/>
          <a:p>
            <a:pPr algn="l"/>
            <a:r>
              <a:rPr sz="850" b="0" i="0">
                <a:solidFill>
                  <a:srgbClr val="5E6A66"/>
                </a:solidFill>
                <a:latin typeface="Calibri"/>
              </a:rPr>
              <a:t>Activate from your dashboard.</a:t>
            </a:r>
          </a:p>
        </p:txBody>
      </p:sp>
      <p:sp>
        <p:nvSpPr>
          <p:cNvPr id="21" name="TextBox 20"/>
          <p:cNvSpPr txBox="1"/>
          <p:nvPr/>
        </p:nvSpPr>
        <p:spPr>
          <a:xfrm>
            <a:off x="2377440" y="2332736"/>
            <a:ext cx="6309360" cy="615696"/>
          </a:xfrm>
          <a:prstGeom prst="rect">
            <a:avLst/>
          </a:prstGeom>
          <a:noFill/>
        </p:spPr>
        <p:txBody>
          <a:bodyPr wrap="square">
            <a:spAutoFit/>
          </a:bodyPr>
          <a:lstStyle/>
          <a:p>
            <a:pPr algn="l"/>
            <a:r>
              <a:rPr sz="950" b="0" i="0">
                <a:solidFill>
                  <a:srgbClr val="44524C"/>
                </a:solidFill>
                <a:latin typeface="Calibri"/>
              </a:rPr>
              <a:t>No webhook to parse. No API mapping. No logic to write before the job starts. Set your guardrails once: what to send, when to escalate, what threshold. The AI agent follows them on every qualifying event.</a:t>
            </a:r>
          </a:p>
        </p:txBody>
      </p:sp>
      <p:sp>
        <p:nvSpPr>
          <p:cNvPr id="22" name="Rectangle 21"/>
          <p:cNvSpPr/>
          <p:nvPr/>
        </p:nvSpPr>
        <p:spPr>
          <a:xfrm>
            <a:off x="411480" y="2999232"/>
            <a:ext cx="8321040" cy="768096"/>
          </a:xfrm>
          <a:prstGeom prst="rect">
            <a:avLst/>
          </a:prstGeom>
          <a:solidFill>
            <a:srgbClr val="E8F8F3"/>
          </a:solidFill>
          <a:ln w="6350">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11480" y="2999232"/>
            <a:ext cx="1828800" cy="768096"/>
          </a:xfrm>
          <a:prstGeom prst="rect">
            <a:avLst/>
          </a:prstGeom>
          <a:solidFill>
            <a:srgbClr val="D8F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240280" y="2999232"/>
            <a:ext cx="9525" cy="768096"/>
          </a:xfrm>
          <a:prstGeom prst="rect">
            <a:avLst/>
          </a:prstGeom>
          <a:solidFill>
            <a:srgbClr val="D6DD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100832"/>
            <a:ext cx="1691640" cy="274320"/>
          </a:xfrm>
          <a:prstGeom prst="rect">
            <a:avLst/>
          </a:prstGeom>
          <a:noFill/>
        </p:spPr>
        <p:txBody>
          <a:bodyPr wrap="square">
            <a:spAutoFit/>
          </a:bodyPr>
          <a:lstStyle/>
          <a:p>
            <a:pPr algn="l"/>
            <a:r>
              <a:rPr sz="1000" b="1" i="0">
                <a:solidFill>
                  <a:srgbClr val="007A55"/>
                </a:solidFill>
                <a:latin typeface="Calibri"/>
              </a:rPr>
              <a:t>Data stays in Cashfree</a:t>
            </a:r>
          </a:p>
        </p:txBody>
      </p:sp>
      <p:sp>
        <p:nvSpPr>
          <p:cNvPr id="26" name="TextBox 25"/>
          <p:cNvSpPr txBox="1"/>
          <p:nvPr/>
        </p:nvSpPr>
        <p:spPr>
          <a:xfrm>
            <a:off x="521208" y="3346704"/>
            <a:ext cx="1691640" cy="365760"/>
          </a:xfrm>
          <a:prstGeom prst="rect">
            <a:avLst/>
          </a:prstGeom>
          <a:noFill/>
        </p:spPr>
        <p:txBody>
          <a:bodyPr wrap="square">
            <a:spAutoFit/>
          </a:bodyPr>
          <a:lstStyle/>
          <a:p>
            <a:pPr algn="l"/>
            <a:r>
              <a:rPr sz="850" b="0" i="0">
                <a:solidFill>
                  <a:srgbClr val="5E6A66"/>
                </a:solidFill>
                <a:latin typeface="Calibri"/>
              </a:rPr>
              <a:t>PCI DSS Level 1 · SOC.</a:t>
            </a:r>
          </a:p>
        </p:txBody>
      </p:sp>
      <p:sp>
        <p:nvSpPr>
          <p:cNvPr id="27" name="TextBox 26"/>
          <p:cNvSpPr txBox="1"/>
          <p:nvPr/>
        </p:nvSpPr>
        <p:spPr>
          <a:xfrm>
            <a:off x="2377440" y="3100832"/>
            <a:ext cx="6309360" cy="615696"/>
          </a:xfrm>
          <a:prstGeom prst="rect">
            <a:avLst/>
          </a:prstGeom>
          <a:noFill/>
        </p:spPr>
        <p:txBody>
          <a:bodyPr wrap="square">
            <a:spAutoFit/>
          </a:bodyPr>
          <a:lstStyle/>
          <a:p>
            <a:pPr algn="l"/>
            <a:r>
              <a:rPr sz="950" b="1" i="0">
                <a:solidFill>
                  <a:srgbClr val="0F1F1B"/>
                </a:solidFill>
                <a:latin typeface="Calibri"/>
              </a:rPr>
              <a:t>Relay runs inside Cashfree's payment infrastructure. Your transaction data never has to move to a third-party server. Only the specific fields you choose reach WhatsApp or Slack. Everything else stays.</a:t>
            </a:r>
          </a:p>
        </p:txBody>
      </p:sp>
      <p:sp>
        <p:nvSpPr>
          <p:cNvPr id="28" name="Rectangle 27"/>
          <p:cNvSpPr/>
          <p:nvPr/>
        </p:nvSpPr>
        <p:spPr>
          <a:xfrm>
            <a:off x="411480" y="3767328"/>
            <a:ext cx="8321040" cy="768096"/>
          </a:xfrm>
          <a:prstGeom prst="rect">
            <a:avLst/>
          </a:prstGeom>
          <a:solidFill>
            <a:srgbClr val="F5F7F6"/>
          </a:solidFill>
          <a:ln w="6350">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11480" y="3767328"/>
            <a:ext cx="1828800" cy="768096"/>
          </a:xfrm>
          <a:prstGeom prst="rect">
            <a:avLst/>
          </a:prstGeom>
          <a:solidFill>
            <a:srgbClr val="EF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240280" y="3767328"/>
            <a:ext cx="9525" cy="768096"/>
          </a:xfrm>
          <a:prstGeom prst="rect">
            <a:avLst/>
          </a:prstGeom>
          <a:solidFill>
            <a:srgbClr val="D6DD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21208" y="3868928"/>
            <a:ext cx="1691640" cy="274320"/>
          </a:xfrm>
          <a:prstGeom prst="rect">
            <a:avLst/>
          </a:prstGeom>
          <a:noFill/>
        </p:spPr>
        <p:txBody>
          <a:bodyPr wrap="square">
            <a:spAutoFit/>
          </a:bodyPr>
          <a:lstStyle/>
          <a:p>
            <a:pPr algn="l"/>
            <a:r>
              <a:rPr sz="1000" b="1" i="0">
                <a:solidFill>
                  <a:srgbClr val="007A55"/>
                </a:solidFill>
                <a:latin typeface="Calibri"/>
              </a:rPr>
              <a:t>Payment context built in</a:t>
            </a:r>
          </a:p>
        </p:txBody>
      </p:sp>
      <p:sp>
        <p:nvSpPr>
          <p:cNvPr id="32" name="TextBox 31"/>
          <p:cNvSpPr txBox="1"/>
          <p:nvPr/>
        </p:nvSpPr>
        <p:spPr>
          <a:xfrm>
            <a:off x="521208" y="4114800"/>
            <a:ext cx="1691640" cy="365760"/>
          </a:xfrm>
          <a:prstGeom prst="rect">
            <a:avLst/>
          </a:prstGeom>
          <a:noFill/>
        </p:spPr>
        <p:txBody>
          <a:bodyPr wrap="square">
            <a:spAutoFit/>
          </a:bodyPr>
          <a:lstStyle/>
          <a:p>
            <a:pPr algn="l"/>
            <a:r>
              <a:rPr sz="850" b="0" i="0">
                <a:solidFill>
                  <a:srgbClr val="5E6A66"/>
                </a:solidFill>
                <a:latin typeface="Calibri"/>
              </a:rPr>
              <a:t>Not a generic workflow engine.</a:t>
            </a:r>
          </a:p>
        </p:txBody>
      </p:sp>
      <p:sp>
        <p:nvSpPr>
          <p:cNvPr id="33" name="TextBox 32"/>
          <p:cNvSpPr txBox="1"/>
          <p:nvPr/>
        </p:nvSpPr>
        <p:spPr>
          <a:xfrm>
            <a:off x="2377440" y="3868928"/>
            <a:ext cx="6309360" cy="615696"/>
          </a:xfrm>
          <a:prstGeom prst="rect">
            <a:avLst/>
          </a:prstGeom>
          <a:noFill/>
        </p:spPr>
        <p:txBody>
          <a:bodyPr wrap="square">
            <a:spAutoFit/>
          </a:bodyPr>
          <a:lstStyle/>
          <a:p>
            <a:pPr algn="l"/>
            <a:r>
              <a:rPr sz="950" b="0" i="0">
                <a:solidFill>
                  <a:srgbClr val="44524C"/>
                </a:solidFill>
                <a:latin typeface="Calibri"/>
              </a:rPr>
              <a:t>The AI agents know what COD confirmation means. What a failed payment recovery looks like. What to flag before dispatch. What a settlement discrepancy is. You don't teach it payments from scratch. It already speaks the language.</a:t>
            </a:r>
          </a:p>
        </p:txBody>
      </p:sp>
      <p:sp>
        <p:nvSpPr>
          <p:cNvPr id="34" name="Rectangle 33"/>
          <p:cNvSpPr/>
          <p:nvPr/>
        </p:nvSpPr>
        <p:spPr>
          <a:xfrm>
            <a:off x="411480" y="4645152"/>
            <a:ext cx="8321040" cy="347472"/>
          </a:xfrm>
          <a:prstGeom prst="rect">
            <a:avLst/>
          </a:prstGeom>
          <a:solidFill>
            <a:srgbClr val="F0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21208" y="4695952"/>
            <a:ext cx="8138160" cy="292608"/>
          </a:xfrm>
          <a:prstGeom prst="rect">
            <a:avLst/>
          </a:prstGeom>
          <a:noFill/>
        </p:spPr>
        <p:txBody>
          <a:bodyPr wrap="square">
            <a:spAutoFit/>
          </a:bodyPr>
          <a:lstStyle/>
          <a:p>
            <a:pPr algn="l"/>
            <a:r>
              <a:rPr sz="950" b="0" i="1">
                <a:solidFill>
                  <a:srgbClr val="44524C"/>
                </a:solidFill>
                <a:latin typeface="Calibri"/>
              </a:rPr>
              <a:t>=&gt; The event is already inside Cashfree. The action runs from inside Cashfree. You just decide what happens in between.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BFB"/>
        </a:solidFill>
        <a:effectLst/>
      </p:bgPr>
    </p:bg>
    <p:spTree>
      <p:nvGrpSpPr>
        <p:cNvPr id="1" name=""/>
        <p:cNvGrpSpPr/>
        <p:nvPr/>
      </p:nvGrpSpPr>
      <p:grpSpPr/>
      <p:sp>
        <p:nvSpPr>
          <p:cNvPr id="2" name="Rectangle 1"/>
          <p:cNvSpPr/>
          <p:nvPr/>
        </p:nvSpPr>
        <p:spPr>
          <a:xfrm>
            <a:off x="256032" y="137160"/>
            <a:ext cx="68580" cy="68580"/>
          </a:xfrm>
          <a:prstGeom prst="rect">
            <a:avLst/>
          </a:prstGeom>
          <a:solidFill>
            <a:srgbClr val="00B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2286000" cy="256032"/>
          </a:xfrm>
          <a:prstGeom prst="rect">
            <a:avLst/>
          </a:prstGeom>
          <a:noFill/>
        </p:spPr>
        <p:txBody>
          <a:bodyPr wrap="square">
            <a:spAutoFit/>
          </a:bodyPr>
          <a:lstStyle/>
          <a:p>
            <a:pPr algn="l"/>
            <a:r>
              <a:rPr sz="750" b="1" i="0">
                <a:solidFill>
                  <a:srgbClr val="5E6A66"/>
                </a:solidFill>
                <a:latin typeface="Calibri"/>
              </a:rPr>
              <a:t>Cashfree · Relay</a:t>
            </a:r>
          </a:p>
        </p:txBody>
      </p:sp>
      <p:sp>
        <p:nvSpPr>
          <p:cNvPr id="4" name="TextBox 3"/>
          <p:cNvSpPr txBox="1"/>
          <p:nvPr/>
        </p:nvSpPr>
        <p:spPr>
          <a:xfrm>
            <a:off x="8686800" y="4850892"/>
            <a:ext cx="457200" cy="228600"/>
          </a:xfrm>
          <a:prstGeom prst="rect">
            <a:avLst/>
          </a:prstGeom>
          <a:noFill/>
        </p:spPr>
        <p:txBody>
          <a:bodyPr wrap="square">
            <a:spAutoFit/>
          </a:bodyPr>
          <a:lstStyle/>
          <a:p>
            <a:pPr algn="r"/>
            <a:r>
              <a:rPr sz="800" b="1" i="0">
                <a:solidFill>
                  <a:srgbClr val="0F1F1B"/>
                </a:solidFill>
                <a:latin typeface="Calibri"/>
              </a:rPr>
              <a:t>10 / 10</a:t>
            </a:r>
          </a:p>
        </p:txBody>
      </p:sp>
      <p:sp>
        <p:nvSpPr>
          <p:cNvPr id="5" name="Rectangle 4"/>
          <p:cNvSpPr/>
          <p:nvPr/>
        </p:nvSpPr>
        <p:spPr>
          <a:xfrm>
            <a:off x="256032" y="329184"/>
            <a:ext cx="8631936" cy="6350"/>
          </a:xfrm>
          <a:prstGeom prst="rect">
            <a:avLst/>
          </a:prstGeom>
          <a:solidFill>
            <a:srgbClr val="D6DD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520700"/>
            <a:ext cx="182880" cy="9525"/>
          </a:xfrm>
          <a:prstGeom prst="rect">
            <a:avLst/>
          </a:prstGeom>
          <a:solidFill>
            <a:srgbClr val="00B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457200"/>
            <a:ext cx="5486400" cy="201168"/>
          </a:xfrm>
          <a:prstGeom prst="rect">
            <a:avLst/>
          </a:prstGeom>
          <a:noFill/>
        </p:spPr>
        <p:txBody>
          <a:bodyPr wrap="square">
            <a:spAutoFit/>
          </a:bodyPr>
          <a:lstStyle/>
          <a:p>
            <a:pPr algn="l"/>
            <a:r>
              <a:rPr sz="750" b="1" i="0">
                <a:solidFill>
                  <a:srgbClr val="5E6A66"/>
                </a:solidFill>
                <a:latin typeface="Calibri"/>
              </a:rPr>
              <a:t>15 MINUTES TO YOUR FIRST LIVE AI AGENT</a:t>
            </a:r>
          </a:p>
        </p:txBody>
      </p:sp>
      <p:sp>
        <p:nvSpPr>
          <p:cNvPr id="8" name="TextBox 7"/>
          <p:cNvSpPr txBox="1"/>
          <p:nvPr/>
        </p:nvSpPr>
        <p:spPr>
          <a:xfrm>
            <a:off x="502920" y="749808"/>
            <a:ext cx="6400800" cy="457200"/>
          </a:xfrm>
          <a:prstGeom prst="rect">
            <a:avLst/>
          </a:prstGeom>
          <a:noFill/>
        </p:spPr>
        <p:txBody>
          <a:bodyPr wrap="none">
            <a:spAutoFit/>
          </a:bodyPr>
          <a:lstStyle/>
          <a:p>
            <a:r>
              <a:rPr sz="2200">
                <a:solidFill>
                  <a:srgbClr val="0F1F1B"/>
                </a:solidFill>
                <a:latin typeface="Calibri"/>
              </a:rPr>
              <a:t>Three steps. </a:t>
            </a:r>
            <a:r>
              <a:rPr sz="2200" i="1">
                <a:solidFill>
                  <a:srgbClr val="0F1F1B"/>
                </a:solidFill>
                <a:latin typeface="Calibri"/>
              </a:rPr>
              <a:t>Then you do nothing.</a:t>
            </a:r>
          </a:p>
        </p:txBody>
      </p:sp>
      <p:sp>
        <p:nvSpPr>
          <p:cNvPr id="9" name="Rectangle 8"/>
          <p:cNvSpPr/>
          <p:nvPr/>
        </p:nvSpPr>
        <p:spPr>
          <a:xfrm>
            <a:off x="411480" y="1371600"/>
            <a:ext cx="2606040" cy="384048"/>
          </a:xfrm>
          <a:prstGeom prst="rect">
            <a:avLst/>
          </a:prstGeom>
          <a:solidFill>
            <a:srgbClr val="E8F8F3"/>
          </a:solidFill>
          <a:ln w="15240">
            <a:solidFill>
              <a:srgbClr val="00B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1208" y="1409700"/>
            <a:ext cx="457200" cy="384048"/>
          </a:xfrm>
          <a:prstGeom prst="rect">
            <a:avLst/>
          </a:prstGeom>
          <a:noFill/>
        </p:spPr>
        <p:txBody>
          <a:bodyPr wrap="square">
            <a:spAutoFit/>
          </a:bodyPr>
          <a:lstStyle/>
          <a:p>
            <a:pPr algn="l"/>
            <a:r>
              <a:rPr sz="2200" b="0" i="0">
                <a:solidFill>
                  <a:srgbClr val="00B488"/>
                </a:solidFill>
                <a:latin typeface="Calibri"/>
              </a:rPr>
              <a:t>01</a:t>
            </a:r>
          </a:p>
        </p:txBody>
      </p:sp>
      <p:sp>
        <p:nvSpPr>
          <p:cNvPr id="11" name="TextBox 10"/>
          <p:cNvSpPr txBox="1"/>
          <p:nvPr/>
        </p:nvSpPr>
        <p:spPr>
          <a:xfrm>
            <a:off x="960120" y="1498600"/>
            <a:ext cx="1965960" cy="384048"/>
          </a:xfrm>
          <a:prstGeom prst="rect">
            <a:avLst/>
          </a:prstGeom>
          <a:noFill/>
        </p:spPr>
        <p:txBody>
          <a:bodyPr wrap="square">
            <a:spAutoFit/>
          </a:bodyPr>
          <a:lstStyle/>
          <a:p>
            <a:pPr algn="l"/>
            <a:r>
              <a:rPr sz="750" b="1" i="0">
                <a:solidFill>
                  <a:srgbClr val="007A55"/>
                </a:solidFill>
                <a:latin typeface="Calibri"/>
              </a:rPr>
              <a:t>PICK AN AI AGENT</a:t>
            </a:r>
          </a:p>
        </p:txBody>
      </p:sp>
      <p:sp>
        <p:nvSpPr>
          <p:cNvPr id="12" name="Rectangle 11"/>
          <p:cNvSpPr/>
          <p:nvPr/>
        </p:nvSpPr>
        <p:spPr>
          <a:xfrm>
            <a:off x="411480" y="1755648"/>
            <a:ext cx="2606040" cy="1444752"/>
          </a:xfrm>
          <a:prstGeom prst="rect">
            <a:avLst/>
          </a:prstGeom>
          <a:solidFill>
            <a:srgbClr val="FBFBFB"/>
          </a:solidFill>
          <a:ln w="9525">
            <a:solidFill>
              <a:srgbClr val="00B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1208" y="1857248"/>
            <a:ext cx="2423160" cy="1292352"/>
          </a:xfrm>
          <a:prstGeom prst="rect">
            <a:avLst/>
          </a:prstGeom>
          <a:noFill/>
        </p:spPr>
        <p:txBody>
          <a:bodyPr wrap="square">
            <a:spAutoFit/>
          </a:bodyPr>
          <a:lstStyle/>
          <a:p>
            <a:pPr algn="l"/>
            <a:r>
              <a:rPr sz="950" b="0" i="0">
                <a:solidFill>
                  <a:srgbClr val="44524C"/>
                </a:solidFill>
                <a:latin typeface="Calibri"/>
              </a:rPr>
              <a:t>Go to Relay inside your Cashfree dashboard. Browse the AI agents. Pick the one for the problem you feel most right now: COD confirmations eating your morning, failed payments you're chasing manually, or settlement recon taking your Fridays.</a:t>
            </a:r>
          </a:p>
        </p:txBody>
      </p:sp>
      <p:sp>
        <p:nvSpPr>
          <p:cNvPr id="14" name="Rectangle 13"/>
          <p:cNvSpPr/>
          <p:nvPr/>
        </p:nvSpPr>
        <p:spPr>
          <a:xfrm>
            <a:off x="3200400" y="1371600"/>
            <a:ext cx="2606040" cy="384048"/>
          </a:xfrm>
          <a:prstGeom prst="rect">
            <a:avLst/>
          </a:prstGeom>
          <a:solidFill>
            <a:srgbClr val="F0F2F1"/>
          </a:solidFill>
          <a:ln w="15240">
            <a:solidFill>
              <a:srgbClr val="5E6A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10128" y="1409700"/>
            <a:ext cx="457200" cy="384048"/>
          </a:xfrm>
          <a:prstGeom prst="rect">
            <a:avLst/>
          </a:prstGeom>
          <a:noFill/>
        </p:spPr>
        <p:txBody>
          <a:bodyPr wrap="square">
            <a:spAutoFit/>
          </a:bodyPr>
          <a:lstStyle/>
          <a:p>
            <a:pPr algn="l"/>
            <a:r>
              <a:rPr sz="2200" b="0" i="0">
                <a:solidFill>
                  <a:srgbClr val="5E6A66"/>
                </a:solidFill>
                <a:latin typeface="Calibri"/>
              </a:rPr>
              <a:t>02</a:t>
            </a:r>
          </a:p>
        </p:txBody>
      </p:sp>
      <p:sp>
        <p:nvSpPr>
          <p:cNvPr id="16" name="TextBox 15"/>
          <p:cNvSpPr txBox="1"/>
          <p:nvPr/>
        </p:nvSpPr>
        <p:spPr>
          <a:xfrm>
            <a:off x="3749040" y="1498600"/>
            <a:ext cx="1965960" cy="384048"/>
          </a:xfrm>
          <a:prstGeom prst="rect">
            <a:avLst/>
          </a:prstGeom>
          <a:noFill/>
        </p:spPr>
        <p:txBody>
          <a:bodyPr wrap="square">
            <a:spAutoFit/>
          </a:bodyPr>
          <a:lstStyle/>
          <a:p>
            <a:pPr algn="l"/>
            <a:r>
              <a:rPr sz="750" b="1" i="0">
                <a:solidFill>
                  <a:srgbClr val="5E6A66"/>
                </a:solidFill>
                <a:latin typeface="Calibri"/>
              </a:rPr>
              <a:t>SET YOUR GUARDRAILS</a:t>
            </a:r>
          </a:p>
        </p:txBody>
      </p:sp>
      <p:sp>
        <p:nvSpPr>
          <p:cNvPr id="17" name="Rectangle 16"/>
          <p:cNvSpPr/>
          <p:nvPr/>
        </p:nvSpPr>
        <p:spPr>
          <a:xfrm>
            <a:off x="3200400" y="1755648"/>
            <a:ext cx="2606040" cy="1444752"/>
          </a:xfrm>
          <a:prstGeom prst="rect">
            <a:avLst/>
          </a:prstGeom>
          <a:solidFill>
            <a:srgbClr val="FBFBFB"/>
          </a:solidFill>
          <a:ln w="9525">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10128" y="1857248"/>
            <a:ext cx="2423160" cy="1292352"/>
          </a:xfrm>
          <a:prstGeom prst="rect">
            <a:avLst/>
          </a:prstGeom>
          <a:noFill/>
        </p:spPr>
        <p:txBody>
          <a:bodyPr wrap="square">
            <a:spAutoFit/>
          </a:bodyPr>
          <a:lstStyle/>
          <a:p>
            <a:pPr algn="l"/>
            <a:r>
              <a:rPr sz="950" b="0" i="0">
                <a:solidFill>
                  <a:srgbClr val="44524C"/>
                </a:solidFill>
                <a:latin typeface="Calibri"/>
              </a:rPr>
              <a:t>What message to send. When to send a nudge. When to flag ops. What threshold to use. 10 minutes. The AI agent follows these rules on every qualifying event from that point forward. No further input from you.</a:t>
            </a:r>
          </a:p>
        </p:txBody>
      </p:sp>
      <p:sp>
        <p:nvSpPr>
          <p:cNvPr id="19" name="Rectangle 18"/>
          <p:cNvSpPr/>
          <p:nvPr/>
        </p:nvSpPr>
        <p:spPr>
          <a:xfrm>
            <a:off x="5989320" y="1371600"/>
            <a:ext cx="2606040" cy="384048"/>
          </a:xfrm>
          <a:prstGeom prst="rect">
            <a:avLst/>
          </a:prstGeom>
          <a:solidFill>
            <a:srgbClr val="E8F8F3"/>
          </a:solidFill>
          <a:ln w="15240">
            <a:solidFill>
              <a:srgbClr val="00B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99048" y="1409700"/>
            <a:ext cx="457200" cy="384048"/>
          </a:xfrm>
          <a:prstGeom prst="rect">
            <a:avLst/>
          </a:prstGeom>
          <a:noFill/>
        </p:spPr>
        <p:txBody>
          <a:bodyPr wrap="square">
            <a:spAutoFit/>
          </a:bodyPr>
          <a:lstStyle/>
          <a:p>
            <a:pPr algn="l"/>
            <a:r>
              <a:rPr sz="2200" b="0" i="0">
                <a:solidFill>
                  <a:srgbClr val="00B488"/>
                </a:solidFill>
                <a:latin typeface="Calibri"/>
              </a:rPr>
              <a:t>03</a:t>
            </a:r>
          </a:p>
        </p:txBody>
      </p:sp>
      <p:sp>
        <p:nvSpPr>
          <p:cNvPr id="21" name="TextBox 20"/>
          <p:cNvSpPr txBox="1"/>
          <p:nvPr/>
        </p:nvSpPr>
        <p:spPr>
          <a:xfrm>
            <a:off x="6537960" y="1498600"/>
            <a:ext cx="1965960" cy="384048"/>
          </a:xfrm>
          <a:prstGeom prst="rect">
            <a:avLst/>
          </a:prstGeom>
          <a:noFill/>
        </p:spPr>
        <p:txBody>
          <a:bodyPr wrap="square">
            <a:spAutoFit/>
          </a:bodyPr>
          <a:lstStyle/>
          <a:p>
            <a:pPr algn="l"/>
            <a:r>
              <a:rPr sz="750" b="1" i="0">
                <a:solidFill>
                  <a:srgbClr val="007A55"/>
                </a:solidFill>
                <a:latin typeface="Calibri"/>
              </a:rPr>
              <a:t>YOU DO NOTHING</a:t>
            </a:r>
          </a:p>
        </p:txBody>
      </p:sp>
      <p:sp>
        <p:nvSpPr>
          <p:cNvPr id="22" name="Rectangle 21"/>
          <p:cNvSpPr/>
          <p:nvPr/>
        </p:nvSpPr>
        <p:spPr>
          <a:xfrm>
            <a:off x="5989320" y="1755648"/>
            <a:ext cx="2606040" cy="1444752"/>
          </a:xfrm>
          <a:prstGeom prst="rect">
            <a:avLst/>
          </a:prstGeom>
          <a:solidFill>
            <a:srgbClr val="FBFBFB"/>
          </a:solidFill>
          <a:ln w="9525">
            <a:solidFill>
              <a:srgbClr val="00B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99048" y="1857248"/>
            <a:ext cx="2423160" cy="1292352"/>
          </a:xfrm>
          <a:prstGeom prst="rect">
            <a:avLst/>
          </a:prstGeom>
          <a:noFill/>
        </p:spPr>
        <p:txBody>
          <a:bodyPr wrap="square">
            <a:spAutoFit/>
          </a:bodyPr>
          <a:lstStyle/>
          <a:p>
            <a:pPr algn="l"/>
            <a:r>
              <a:rPr sz="950" b="0" i="0">
                <a:solidFill>
                  <a:srgbClr val="44524C"/>
                </a:solidFill>
                <a:latin typeface="Calibri"/>
              </a:rPr>
              <a:t>The AI agent runs on every event. Day and night. Weekend. Holiday. Supplier meeting. Your only job from here: decide which AI agent to activate next. The morning you've been doing manually every day stops being yours.</a:t>
            </a:r>
          </a:p>
        </p:txBody>
      </p:sp>
      <p:sp>
        <p:nvSpPr>
          <p:cNvPr id="24" name="Rectangle 23"/>
          <p:cNvSpPr/>
          <p:nvPr/>
        </p:nvSpPr>
        <p:spPr>
          <a:xfrm>
            <a:off x="411480" y="3383280"/>
            <a:ext cx="8321040" cy="1508760"/>
          </a:xfrm>
          <a:prstGeom prst="rect">
            <a:avLst/>
          </a:prstGeom>
          <a:noFill/>
          <a:ln w="15240">
            <a:solidFill>
              <a:srgbClr val="0F1F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11480" y="3383280"/>
            <a:ext cx="8321040" cy="502920"/>
          </a:xfrm>
          <a:prstGeom prst="rect">
            <a:avLst/>
          </a:prstGeom>
          <a:solidFill>
            <a:srgbClr val="FBFBFB"/>
          </a:solidFill>
          <a:ln w="6350">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11480" y="3383280"/>
            <a:ext cx="1005840" cy="502920"/>
          </a:xfrm>
          <a:prstGeom prst="rect">
            <a:avLst/>
          </a:prstGeom>
          <a:solidFill>
            <a:srgbClr val="EF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417320" y="3383280"/>
            <a:ext cx="9525" cy="502920"/>
          </a:xfrm>
          <a:prstGeom prst="rect">
            <a:avLst/>
          </a:prstGeom>
          <a:solidFill>
            <a:srgbClr val="D6DD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3459480"/>
            <a:ext cx="896112" cy="502920"/>
          </a:xfrm>
          <a:prstGeom prst="rect">
            <a:avLst/>
          </a:prstGeom>
          <a:noFill/>
        </p:spPr>
        <p:txBody>
          <a:bodyPr wrap="square">
            <a:spAutoFit/>
          </a:bodyPr>
          <a:lstStyle/>
          <a:p>
            <a:pPr algn="l"/>
            <a:r>
              <a:rPr sz="800" b="1" i="0">
                <a:solidFill>
                  <a:srgbClr val="5E6A66"/>
                </a:solidFill>
                <a:latin typeface="Calibri"/>
              </a:rPr>
              <a:t>PRICING</a:t>
            </a:r>
          </a:p>
        </p:txBody>
      </p:sp>
      <p:sp>
        <p:nvSpPr>
          <p:cNvPr id="29" name="TextBox 28"/>
          <p:cNvSpPr txBox="1"/>
          <p:nvPr/>
        </p:nvSpPr>
        <p:spPr>
          <a:xfrm>
            <a:off x="1527048" y="3459480"/>
            <a:ext cx="7132320" cy="401320"/>
          </a:xfrm>
          <a:prstGeom prst="rect">
            <a:avLst/>
          </a:prstGeom>
          <a:noFill/>
        </p:spPr>
        <p:txBody>
          <a:bodyPr wrap="square">
            <a:spAutoFit/>
          </a:bodyPr>
          <a:lstStyle/>
          <a:p>
            <a:pPr algn="l"/>
            <a:r>
              <a:rPr sz="900" b="0" i="0">
                <a:solidFill>
                  <a:srgbClr val="44524C"/>
                </a:solidFill>
                <a:latin typeface="Calibri"/>
              </a:rPr>
              <a:t>Free to activate during Early Beta. Per-run pricing at GA: directionally ₹0.50 to ₹1 per run. WhatsApp template costs at cost. No platform fee during Early Beta.</a:t>
            </a:r>
          </a:p>
        </p:txBody>
      </p:sp>
      <p:sp>
        <p:nvSpPr>
          <p:cNvPr id="30" name="Rectangle 29"/>
          <p:cNvSpPr/>
          <p:nvPr/>
        </p:nvSpPr>
        <p:spPr>
          <a:xfrm>
            <a:off x="411480" y="3886200"/>
            <a:ext cx="8321040" cy="502920"/>
          </a:xfrm>
          <a:prstGeom prst="rect">
            <a:avLst/>
          </a:prstGeom>
          <a:solidFill>
            <a:srgbClr val="FBFBFB"/>
          </a:solidFill>
          <a:ln w="6350">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11480" y="3886200"/>
            <a:ext cx="1005840" cy="502920"/>
          </a:xfrm>
          <a:prstGeom prst="rect">
            <a:avLst/>
          </a:prstGeom>
          <a:solidFill>
            <a:srgbClr val="EF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417320" y="3886200"/>
            <a:ext cx="9525" cy="502920"/>
          </a:xfrm>
          <a:prstGeom prst="rect">
            <a:avLst/>
          </a:prstGeom>
          <a:solidFill>
            <a:srgbClr val="D6DD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20" y="3962400"/>
            <a:ext cx="896112" cy="502920"/>
          </a:xfrm>
          <a:prstGeom prst="rect">
            <a:avLst/>
          </a:prstGeom>
          <a:noFill/>
        </p:spPr>
        <p:txBody>
          <a:bodyPr wrap="square">
            <a:spAutoFit/>
          </a:bodyPr>
          <a:lstStyle/>
          <a:p>
            <a:pPr algn="l"/>
            <a:r>
              <a:rPr sz="800" b="1" i="0">
                <a:solidFill>
                  <a:srgbClr val="5E6A66"/>
                </a:solidFill>
                <a:latin typeface="Calibri"/>
              </a:rPr>
              <a:t>DATA</a:t>
            </a:r>
          </a:p>
        </p:txBody>
      </p:sp>
      <p:sp>
        <p:nvSpPr>
          <p:cNvPr id="34" name="TextBox 33"/>
          <p:cNvSpPr txBox="1"/>
          <p:nvPr/>
        </p:nvSpPr>
        <p:spPr>
          <a:xfrm>
            <a:off x="1527048" y="3962400"/>
            <a:ext cx="7132320" cy="401320"/>
          </a:xfrm>
          <a:prstGeom prst="rect">
            <a:avLst/>
          </a:prstGeom>
          <a:noFill/>
        </p:spPr>
        <p:txBody>
          <a:bodyPr wrap="square">
            <a:spAutoFit/>
          </a:bodyPr>
          <a:lstStyle/>
          <a:p>
            <a:pPr algn="l"/>
            <a:r>
              <a:rPr sz="900" b="0" i="0">
                <a:solidFill>
                  <a:srgbClr val="44524C"/>
                </a:solidFill>
                <a:latin typeface="Calibri"/>
              </a:rPr>
              <a:t>PCI DSS Level 1 and SOC-certified. Same infrastructure that processes your payments. Your transaction data does not leave Cashfree.</a:t>
            </a:r>
          </a:p>
        </p:txBody>
      </p:sp>
      <p:sp>
        <p:nvSpPr>
          <p:cNvPr id="35" name="Rectangle 34"/>
          <p:cNvSpPr/>
          <p:nvPr/>
        </p:nvSpPr>
        <p:spPr>
          <a:xfrm>
            <a:off x="411480" y="4389120"/>
            <a:ext cx="8321040" cy="502920"/>
          </a:xfrm>
          <a:prstGeom prst="rect">
            <a:avLst/>
          </a:prstGeom>
          <a:solidFill>
            <a:srgbClr val="E8F8F3"/>
          </a:solidFill>
          <a:ln w="6350">
            <a:solidFill>
              <a:srgbClr val="D6DD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11480" y="4389120"/>
            <a:ext cx="1005840" cy="502920"/>
          </a:xfrm>
          <a:prstGeom prst="rect">
            <a:avLst/>
          </a:prstGeom>
          <a:solidFill>
            <a:srgbClr val="D8F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417320" y="4389120"/>
            <a:ext cx="9525" cy="502920"/>
          </a:xfrm>
          <a:prstGeom prst="rect">
            <a:avLst/>
          </a:prstGeom>
          <a:solidFill>
            <a:srgbClr val="D6DD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2920" y="4465320"/>
            <a:ext cx="896112" cy="502920"/>
          </a:xfrm>
          <a:prstGeom prst="rect">
            <a:avLst/>
          </a:prstGeom>
          <a:noFill/>
        </p:spPr>
        <p:txBody>
          <a:bodyPr wrap="square">
            <a:spAutoFit/>
          </a:bodyPr>
          <a:lstStyle/>
          <a:p>
            <a:pPr algn="l"/>
            <a:r>
              <a:rPr sz="800" b="1" i="0">
                <a:solidFill>
                  <a:srgbClr val="007A55"/>
                </a:solidFill>
                <a:latin typeface="Calibri"/>
              </a:rPr>
              <a:t>ACCESS</a:t>
            </a:r>
          </a:p>
        </p:txBody>
      </p:sp>
      <p:sp>
        <p:nvSpPr>
          <p:cNvPr id="39" name="TextBox 38"/>
          <p:cNvSpPr txBox="1"/>
          <p:nvPr/>
        </p:nvSpPr>
        <p:spPr>
          <a:xfrm>
            <a:off x="1527048" y="4465320"/>
            <a:ext cx="7132320" cy="401320"/>
          </a:xfrm>
          <a:prstGeom prst="rect">
            <a:avLst/>
          </a:prstGeom>
          <a:noFill/>
        </p:spPr>
        <p:txBody>
          <a:bodyPr wrap="square">
            <a:spAutoFit/>
          </a:bodyPr>
          <a:lstStyle/>
          <a:p>
            <a:pPr algn="l"/>
            <a:r>
              <a:rPr sz="900" b="1" i="0">
                <a:solidFill>
                  <a:srgbClr val="0F1F1B"/>
                </a:solidFill>
                <a:latin typeface="Calibri"/>
              </a:rPr>
              <a:t>Ask for access on your next Cashfree call, or write to mothi.venkatesh@cashfree.com. We're activating merchants in batches during Early Beta. Currently free.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F1B"/>
        </a:solidFill>
        <a:effectLst/>
      </p:bgPr>
    </p:bg>
    <p:spTree>
      <p:nvGrpSpPr>
        <p:cNvPr id="1" name=""/>
        <p:cNvGrpSpPr/>
        <p:nvPr/>
      </p:nvGrpSpPr>
      <p:grpSpPr/>
      <p:sp>
        <p:nvSpPr>
          <p:cNvPr id="2" name="Rectangle 1"/>
          <p:cNvSpPr/>
          <p:nvPr/>
        </p:nvSpPr>
        <p:spPr>
          <a:xfrm>
            <a:off x="256032" y="137160"/>
            <a:ext cx="68580" cy="68580"/>
          </a:xfrm>
          <a:prstGeom prst="rect">
            <a:avLst/>
          </a:prstGeom>
          <a:solidFill>
            <a:srgbClr val="2DC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2286000" cy="256032"/>
          </a:xfrm>
          <a:prstGeom prst="rect">
            <a:avLst/>
          </a:prstGeom>
          <a:noFill/>
        </p:spPr>
        <p:txBody>
          <a:bodyPr wrap="square">
            <a:spAutoFit/>
          </a:bodyPr>
          <a:lstStyle/>
          <a:p>
            <a:pPr algn="l"/>
            <a:r>
              <a:rPr sz="750" b="1" i="0">
                <a:solidFill>
                  <a:srgbClr val="F4F1EA"/>
                </a:solidFill>
                <a:latin typeface="Calibri"/>
              </a:rPr>
              <a:t>Cashfree · Relay</a:t>
            </a:r>
          </a:p>
        </p:txBody>
      </p:sp>
      <p:sp>
        <p:nvSpPr>
          <p:cNvPr id="4" name="TextBox 3"/>
          <p:cNvSpPr txBox="1"/>
          <p:nvPr/>
        </p:nvSpPr>
        <p:spPr>
          <a:xfrm>
            <a:off x="8686800" y="4850892"/>
            <a:ext cx="457200" cy="228600"/>
          </a:xfrm>
          <a:prstGeom prst="rect">
            <a:avLst/>
          </a:prstGeom>
          <a:noFill/>
        </p:spPr>
        <p:txBody>
          <a:bodyPr wrap="square">
            <a:spAutoFit/>
          </a:bodyPr>
          <a:lstStyle/>
          <a:p>
            <a:pPr algn="r"/>
            <a:r>
              <a:rPr sz="800" b="1" i="0">
                <a:solidFill>
                  <a:srgbClr val="F4F1EA"/>
                </a:solidFill>
                <a:latin typeface="Calibri"/>
              </a:rPr>
              <a:t>··</a:t>
            </a:r>
          </a:p>
        </p:txBody>
      </p:sp>
      <p:sp>
        <p:nvSpPr>
          <p:cNvPr id="5" name="Rectangle 4"/>
          <p:cNvSpPr/>
          <p:nvPr/>
        </p:nvSpPr>
        <p:spPr>
          <a:xfrm>
            <a:off x="256032" y="329184"/>
            <a:ext cx="8631936" cy="6350"/>
          </a:xfrm>
          <a:prstGeom prst="rect">
            <a:avLst/>
          </a:prstGeom>
          <a:solidFill>
            <a:srgbClr val="2DC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42975"/>
            <a:ext cx="10058400" cy="1828800"/>
          </a:xfrm>
          <a:prstGeom prst="rect">
            <a:avLst/>
          </a:prstGeom>
          <a:noFill/>
        </p:spPr>
        <p:txBody>
          <a:bodyPr wrap="none">
            <a:spAutoFit/>
          </a:bodyPr>
          <a:lstStyle/>
          <a:p>
            <a:pPr algn="ctr"/>
            <a:r>
              <a:rPr sz="20000" b="1">
                <a:solidFill>
                  <a:srgbClr val="2D312F"/>
                </a:solidFill>
                <a:latin typeface="Calibri"/>
              </a:rPr>
              <a:t>RELAY</a:t>
            </a:r>
          </a:p>
        </p:txBody>
      </p:sp>
      <p:sp>
        <p:nvSpPr>
          <p:cNvPr id="7" name="TextBox 6"/>
          <p:cNvSpPr txBox="1"/>
          <p:nvPr/>
        </p:nvSpPr>
        <p:spPr>
          <a:xfrm>
            <a:off x="-457200" y="3000375"/>
            <a:ext cx="10058400" cy="1828800"/>
          </a:xfrm>
          <a:prstGeom prst="rect">
            <a:avLst/>
          </a:prstGeom>
          <a:noFill/>
        </p:spPr>
        <p:txBody>
          <a:bodyPr wrap="none">
            <a:spAutoFit/>
          </a:bodyPr>
          <a:lstStyle/>
          <a:p>
            <a:pPr algn="ctr"/>
            <a:r>
              <a:rPr sz="14800" b="1">
                <a:solidFill>
                  <a:srgbClr val="1E2220"/>
                </a:solidFill>
                <a:latin typeface="Calibri"/>
              </a:rPr>
              <a:t>RELAY</a:t>
            </a:r>
          </a:p>
        </p:txBody>
      </p:sp>
      <p:sp>
        <p:nvSpPr>
          <p:cNvPr id="8" name="TextBox 7"/>
          <p:cNvSpPr txBox="1"/>
          <p:nvPr/>
        </p:nvSpPr>
        <p:spPr>
          <a:xfrm>
            <a:off x="-457200" y="4543425"/>
            <a:ext cx="10058400" cy="1828800"/>
          </a:xfrm>
          <a:prstGeom prst="rect">
            <a:avLst/>
          </a:prstGeom>
          <a:noFill/>
        </p:spPr>
        <p:txBody>
          <a:bodyPr wrap="none">
            <a:spAutoFit/>
          </a:bodyPr>
          <a:lstStyle/>
          <a:p>
            <a:pPr algn="ctr"/>
            <a:r>
              <a:rPr sz="11000" b="1">
                <a:solidFill>
                  <a:srgbClr val="161A18"/>
                </a:solidFill>
                <a:latin typeface="Calibri"/>
              </a:rPr>
              <a:t>RELAY</a:t>
            </a:r>
          </a:p>
        </p:txBody>
      </p:sp>
      <p:sp>
        <p:nvSpPr>
          <p:cNvPr id="9" name="Rectangle 8"/>
          <p:cNvSpPr/>
          <p:nvPr/>
        </p:nvSpPr>
        <p:spPr>
          <a:xfrm>
            <a:off x="502920" y="1435100"/>
            <a:ext cx="182880" cy="9525"/>
          </a:xfrm>
          <a:prstGeom prst="rect">
            <a:avLst/>
          </a:prstGeom>
          <a:solidFill>
            <a:srgbClr val="00B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1371600"/>
            <a:ext cx="4572000" cy="201168"/>
          </a:xfrm>
          <a:prstGeom prst="rect">
            <a:avLst/>
          </a:prstGeom>
          <a:noFill/>
        </p:spPr>
        <p:txBody>
          <a:bodyPr wrap="square">
            <a:spAutoFit/>
          </a:bodyPr>
          <a:lstStyle/>
          <a:p>
            <a:pPr algn="l"/>
            <a:r>
              <a:rPr sz="750" b="1" i="0">
                <a:solidFill>
                  <a:srgbClr val="2DCCA0"/>
                </a:solidFill>
                <a:latin typeface="Calibri"/>
              </a:rPr>
              <a:t>THE ONLY QUESTION LEFT</a:t>
            </a:r>
          </a:p>
        </p:txBody>
      </p:sp>
      <p:sp>
        <p:nvSpPr>
          <p:cNvPr id="11" name="TextBox 10"/>
          <p:cNvSpPr txBox="1"/>
          <p:nvPr/>
        </p:nvSpPr>
        <p:spPr>
          <a:xfrm>
            <a:off x="502920" y="1737360"/>
            <a:ext cx="8229600" cy="2011680"/>
          </a:xfrm>
          <a:prstGeom prst="rect">
            <a:avLst/>
          </a:prstGeom>
          <a:noFill/>
        </p:spPr>
        <p:txBody>
          <a:bodyPr wrap="square">
            <a:spAutoFit/>
          </a:bodyPr>
          <a:lstStyle/>
          <a:p>
            <a:r>
              <a:rPr sz="4400">
                <a:solidFill>
                  <a:srgbClr val="F4F1EA"/>
                </a:solidFill>
                <a:latin typeface="Calibri"/>
              </a:rPr>
              <a:t>Which problem do you want to</a:t>
            </a:r>
          </a:p>
          <a:p>
            <a:r>
              <a:rPr sz="4400" i="1">
                <a:solidFill>
                  <a:srgbClr val="2DCCA0"/>
                </a:solidFill>
                <a:latin typeface="Calibri"/>
              </a:rPr>
              <a:t>stop doing by hand?</a:t>
            </a:r>
          </a:p>
        </p:txBody>
      </p:sp>
      <p:sp>
        <p:nvSpPr>
          <p:cNvPr id="12" name="Rectangle 11"/>
          <p:cNvSpPr/>
          <p:nvPr/>
        </p:nvSpPr>
        <p:spPr>
          <a:xfrm>
            <a:off x="411480" y="3794760"/>
            <a:ext cx="5303520" cy="804672"/>
          </a:xfrm>
          <a:prstGeom prst="rect">
            <a:avLst/>
          </a:prstGeom>
          <a:solidFill>
            <a:srgbClr val="162C26"/>
          </a:solidFill>
          <a:ln w="19050">
            <a:solidFill>
              <a:srgbClr val="00B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3794760"/>
            <a:ext cx="12700" cy="804672"/>
          </a:xfrm>
          <a:prstGeom prst="rect">
            <a:avLst/>
          </a:prstGeom>
          <a:solidFill>
            <a:srgbClr val="00B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931920"/>
            <a:ext cx="5029200" cy="502920"/>
          </a:xfrm>
          <a:prstGeom prst="rect">
            <a:avLst/>
          </a:prstGeom>
          <a:noFill/>
        </p:spPr>
        <p:txBody>
          <a:bodyPr wrap="square">
            <a:spAutoFit/>
          </a:bodyPr>
          <a:lstStyle/>
          <a:p>
            <a:pPr algn="l"/>
            <a:r>
              <a:rPr sz="1100" b="0" i="0">
                <a:solidFill>
                  <a:srgbClr val="F4F1EA"/>
                </a:solidFill>
                <a:latin typeface="Calibri"/>
              </a:rPr>
              <a:t>Write to mothi.venkatesh@cashfree.com to get activated during Early Beta.</a:t>
            </a:r>
          </a:p>
        </p:txBody>
      </p:sp>
      <p:sp>
        <p:nvSpPr>
          <p:cNvPr id="15" name="TextBox 14"/>
          <p:cNvSpPr txBox="1"/>
          <p:nvPr/>
        </p:nvSpPr>
        <p:spPr>
          <a:xfrm>
            <a:off x="566928" y="4133087"/>
            <a:ext cx="5029200" cy="256032"/>
          </a:xfrm>
          <a:prstGeom prst="rect">
            <a:avLst/>
          </a:prstGeom>
          <a:noFill/>
        </p:spPr>
        <p:txBody>
          <a:bodyPr wrap="square">
            <a:spAutoFit/>
          </a:bodyPr>
          <a:lstStyle/>
          <a:p>
            <a:pPr algn="l"/>
            <a:r>
              <a:rPr sz="1050" b="1" i="0">
                <a:solidFill>
                  <a:srgbClr val="2DCCA0"/>
                </a:solidFill>
                <a:latin typeface="Calibri"/>
              </a:rPr>
              <a:t>mothi.venkatesh@cashfree.com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